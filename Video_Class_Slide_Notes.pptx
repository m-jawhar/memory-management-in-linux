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4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5" r:id="rId8"/>
    <p:sldId id="279" r:id="rId9"/>
    <p:sldId id="287" r:id="rId10"/>
    <p:sldId id="283" r:id="rId11"/>
    <p:sldId id="284" r:id="rId12"/>
    <p:sldId id="281" r:id="rId13"/>
    <p:sldId id="288" r:id="rId14"/>
    <p:sldId id="289" r:id="rId15"/>
    <p:sldId id="282" r:id="rId16"/>
    <p:sldId id="292" r:id="rId17"/>
    <p:sldId id="293" r:id="rId18"/>
    <p:sldId id="280" r:id="rId19"/>
    <p:sldId id="271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2B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3671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70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272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695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572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352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2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390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017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97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982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7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pages.cs.wisc.edu/~remzi/OSTEP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IN" b="1" dirty="0"/>
              <a:t>Memory Management in Linux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 typeface="Arial" panose="020B0604020202020204" pitchFamily="34" charset="0"/>
              <a:buChar char="•"/>
            </a:pPr>
            <a:endParaRPr lang="en-IN" sz="2800" dirty="0"/>
          </a:p>
          <a:p>
            <a:pPr lvl="0">
              <a:buFont typeface="Arial" panose="020B0604020202020204" pitchFamily="34" charset="0"/>
              <a:buChar char="•"/>
            </a:pPr>
            <a:r>
              <a:rPr sz="2800" dirty="0"/>
              <a:t>Virtual Memory, Demand Paging, and Page Fault Analysis </a:t>
            </a:r>
            <a:endParaRPr lang="en-IN" sz="2800" dirty="0"/>
          </a:p>
          <a:p>
            <a:pPr lvl="0">
              <a:buFont typeface="Arial" panose="020B0604020202020204" pitchFamily="34" charset="0"/>
              <a:buChar char="•"/>
            </a:pPr>
            <a:r>
              <a:rPr sz="2800" dirty="0"/>
              <a:t>Operating Systems (B24CS2T04)</a:t>
            </a:r>
            <a:endParaRPr lang="en-IN" sz="2800" dirty="0"/>
          </a:p>
          <a:p>
            <a:pPr lvl="0">
              <a:buFont typeface="Arial" panose="020B0604020202020204" pitchFamily="34" charset="0"/>
              <a:buChar char="•"/>
            </a:pPr>
            <a:r>
              <a:rPr sz="2800" dirty="0"/>
              <a:t>Self-Learning Practice – Topic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endParaRPr lang="en-IN" dirty="0"/>
          </a:p>
          <a:p>
            <a:pPr marL="457200" indent="-457200">
              <a:buAutoNum type="arabicPeriod"/>
            </a:pPr>
            <a:r>
              <a:rPr dirty="0"/>
              <a:t>Why Memory Management Matters</a:t>
            </a:r>
          </a:p>
          <a:p>
            <a:pPr marL="457200" indent="-457200">
              <a:buAutoNum type="arabicPeriod"/>
            </a:pPr>
            <a:r>
              <a:rPr dirty="0"/>
              <a:t>Virtual Memory in Linux</a:t>
            </a:r>
          </a:p>
          <a:p>
            <a:pPr marL="457200" indent="-457200">
              <a:buAutoNum type="arabicPeriod"/>
            </a:pPr>
            <a:r>
              <a:rPr dirty="0"/>
              <a:t>How Demand Paging Works</a:t>
            </a:r>
          </a:p>
          <a:p>
            <a:pPr marL="457200" indent="-457200">
              <a:buAutoNum type="arabicPeriod"/>
            </a:pPr>
            <a:r>
              <a:rPr dirty="0"/>
              <a:t>Live Demo: Memory-Intensive Program</a:t>
            </a:r>
          </a:p>
          <a:p>
            <a:pPr marL="457200" indent="-457200">
              <a:buAutoNum type="arabicPeriod"/>
            </a:pPr>
            <a:r>
              <a:rPr dirty="0"/>
              <a:t>Page Fault Comparison using </a:t>
            </a:r>
            <a:r>
              <a:rPr dirty="0" err="1">
                <a:latin typeface="Courier"/>
              </a:rPr>
              <a:t>vmstat</a:t>
            </a:r>
            <a:endParaRPr dirty="0">
              <a:latin typeface="Courier"/>
            </a:endParaRPr>
          </a:p>
          <a:p>
            <a:pPr marL="457200" indent="-457200">
              <a:buAutoNum type="arabicPeriod"/>
            </a:pPr>
            <a:r>
              <a:rPr dirty="0"/>
              <a:t>Key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Why Memory Management?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sz="2400" b="1" dirty="0"/>
              <a:t>The Problem:</a:t>
            </a:r>
            <a:endParaRPr lang="en-IN" sz="2400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sz="2000" dirty="0"/>
              <a:t>Physical RAM is limited (4 GB, 8 GB, 16 GB…)</a:t>
            </a:r>
            <a:endParaRPr lang="en-IN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sz="2000" dirty="0"/>
              <a:t>Multiple processes run simultaneously</a:t>
            </a:r>
            <a:endParaRPr lang="en-IN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sz="2000" dirty="0"/>
              <a:t>Each process thinks it owns all memory</a:t>
            </a:r>
          </a:p>
          <a:p>
            <a:pPr marL="0" indent="0">
              <a:buNone/>
            </a:pPr>
            <a:r>
              <a:rPr sz="2400" b="1" dirty="0"/>
              <a:t>The Solution: Virtual Memory</a:t>
            </a:r>
            <a:endParaRPr lang="en-IN" sz="2400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sz="2000" dirty="0"/>
              <a:t>Every process gets its own private address space</a:t>
            </a:r>
            <a:endParaRPr lang="en-IN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sz="2000" dirty="0"/>
              <a:t>The OS + hardware map virtual → physical transparently</a:t>
            </a:r>
            <a:endParaRPr lang="en-IN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sz="2000" dirty="0"/>
              <a:t>Only actively-used pages consume RAM (demand paging)</a:t>
            </a:r>
            <a:endParaRPr lang="en-IN" sz="2000" dirty="0"/>
          </a:p>
          <a:p>
            <a:pPr marL="201168" lvl="1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Imagine a library where books are only fetched from the warehouse when someone asks for them — that’s demand paging.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9679" y="263527"/>
            <a:ext cx="7543800" cy="1450757"/>
          </a:xfrm>
        </p:spPr>
        <p:txBody>
          <a:bodyPr>
            <a:normAutofit/>
          </a:bodyPr>
          <a:lstStyle/>
          <a:p>
            <a:r>
              <a:rPr b="1" dirty="0"/>
              <a:t>Virtual Address Space Layout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31CC056-C58B-51E4-06EF-C1A35E3788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2023659"/>
              </p:ext>
            </p:extLst>
          </p:nvPr>
        </p:nvGraphicFramePr>
        <p:xfrm>
          <a:off x="1350264" y="1940949"/>
          <a:ext cx="6108193" cy="2670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46039">
                  <a:extLst>
                    <a:ext uri="{9D8B030D-6E8A-4147-A177-3AD203B41FA5}">
                      <a16:colId xmlns:a16="http://schemas.microsoft.com/office/drawing/2014/main" val="1971949250"/>
                    </a:ext>
                  </a:extLst>
                </a:gridCol>
                <a:gridCol w="3662154">
                  <a:extLst>
                    <a:ext uri="{9D8B030D-6E8A-4147-A177-3AD203B41FA5}">
                      <a16:colId xmlns:a16="http://schemas.microsoft.com/office/drawing/2014/main" val="894367417"/>
                    </a:ext>
                  </a:extLst>
                </a:gridCol>
              </a:tblGrid>
              <a:tr h="448882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Kernel Space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(not accessible from user mode)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9650854"/>
                  </a:ext>
                </a:extLst>
              </a:tr>
              <a:tr h="3309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Stack </a:t>
                      </a: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(grows downwards)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4692541"/>
                  </a:ext>
                </a:extLst>
              </a:tr>
              <a:tr h="37947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Memory mapped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(shared libs, </a:t>
                      </a:r>
                      <a:r>
                        <a:rPr lang="en-IN" dirty="0" err="1"/>
                        <a:t>mmap</a:t>
                      </a:r>
                      <a:r>
                        <a:rPr lang="en-IN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7041711"/>
                  </a:ext>
                </a:extLst>
              </a:tr>
              <a:tr h="3794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Heap  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(grows upwards – malloc)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8999164"/>
                  </a:ext>
                </a:extLst>
              </a:tr>
              <a:tr h="33091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(uninitialized </a:t>
                      </a:r>
                      <a:r>
                        <a:rPr lang="en-IN" dirty="0" err="1"/>
                        <a:t>globals</a:t>
                      </a:r>
                      <a:r>
                        <a:rPr lang="en-IN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67114159"/>
                  </a:ext>
                </a:extLst>
              </a:tr>
              <a:tr h="33091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(initialized </a:t>
                      </a:r>
                      <a:r>
                        <a:rPr lang="en-IN" dirty="0" err="1"/>
                        <a:t>globals</a:t>
                      </a:r>
                      <a:r>
                        <a:rPr lang="en-IN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0384865"/>
                  </a:ext>
                </a:extLst>
              </a:tr>
              <a:tr h="33091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Text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program 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61045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A9AE719-86F6-26B6-3CE3-4A1E0AB81776}"/>
              </a:ext>
            </a:extLst>
          </p:cNvPr>
          <p:cNvSpPr txBox="1"/>
          <p:nvPr/>
        </p:nvSpPr>
        <p:spPr>
          <a:xfrm>
            <a:off x="1350264" y="4730419"/>
            <a:ext cx="84947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Each section is a </a:t>
            </a:r>
            <a:r>
              <a:rPr lang="en-US" b="1" dirty="0"/>
              <a:t>Virtual Memory Area (VMA)</a:t>
            </a:r>
            <a:endParaRPr lang="en-US" dirty="0"/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Kernel tracks them with </a:t>
            </a:r>
            <a:r>
              <a:rPr lang="en-US" dirty="0" err="1"/>
              <a:t>vm_area_struct</a:t>
            </a:r>
            <a:r>
              <a:rPr lang="en-US" dirty="0"/>
              <a:t> linked list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- All VMAs for a process live inside </a:t>
            </a:r>
            <a:r>
              <a:rPr lang="en-US" dirty="0" err="1"/>
              <a:t>mm_struct</a:t>
            </a:r>
            <a:r>
              <a:rPr lang="en-US" dirty="0"/>
              <a:t> — the per-process memory descriptor (also holds the </a:t>
            </a:r>
            <a:r>
              <a:rPr lang="en-US" dirty="0" err="1"/>
              <a:t>pgd</a:t>
            </a:r>
            <a:r>
              <a:rPr lang="en-US" dirty="0"/>
              <a:t> pointer to the top-level page table)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/proc/&lt;</a:t>
            </a:r>
            <a:r>
              <a:rPr lang="en-US" dirty="0" err="1"/>
              <a:t>pid</a:t>
            </a:r>
            <a:r>
              <a:rPr lang="en-US" dirty="0"/>
              <a:t>&gt;/maps shows the actual layout — </a:t>
            </a:r>
            <a:r>
              <a:rPr lang="en-US" b="1" dirty="0"/>
              <a:t>DEMO</a:t>
            </a:r>
            <a:r>
              <a:rPr lang="en-US" dirty="0"/>
              <a:t>: run cat /proc/self/maps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Page Tables &amp; </a:t>
            </a:r>
            <a:r>
              <a:rPr b="1" dirty="0" err="1"/>
              <a:t>Translatio</a:t>
            </a:r>
            <a:r>
              <a:rPr lang="en-IN" b="1" dirty="0"/>
              <a:t>n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IN" dirty="0"/>
              <a:t>Virtual Adress (48 bits used on x86 – 64)</a:t>
            </a:r>
          </a:p>
          <a:p>
            <a:pPr lvl="0"/>
            <a:endParaRPr lang="en-IN" dirty="0"/>
          </a:p>
          <a:p>
            <a:pPr lvl="0"/>
            <a:endParaRPr lang="en-IN" b="1" dirty="0"/>
          </a:p>
          <a:p>
            <a:pPr lvl="0"/>
            <a:endParaRPr lang="en-IN" b="1" dirty="0"/>
          </a:p>
          <a:p>
            <a:pPr lvl="0"/>
            <a:endParaRPr lang="en-IN" b="1" dirty="0"/>
          </a:p>
          <a:p>
            <a:pPr lvl="0"/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endParaRPr lang="en-IN" sz="1800" b="1" dirty="0"/>
          </a:p>
          <a:p>
            <a:pPr>
              <a:buFont typeface="Arial" panose="020B0604020202020204" pitchFamily="34" charset="0"/>
              <a:buChar char="•"/>
            </a:pPr>
            <a:r>
              <a:rPr sz="1900" dirty="0"/>
              <a:t>TLB (Translation Lookaside Buffer) caches recent translations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1900" dirty="0"/>
              <a:t>TLB miss → full 4-level walk (expensive!)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1900" dirty="0"/>
              <a:t>This is why access pattern matters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BA6889A-886C-245F-ED6B-8AFA52785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768650"/>
              </p:ext>
            </p:extLst>
          </p:nvPr>
        </p:nvGraphicFramePr>
        <p:xfrm>
          <a:off x="2346960" y="2314449"/>
          <a:ext cx="6096000" cy="3843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13619792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9317815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036536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41659824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853328029"/>
                    </a:ext>
                  </a:extLst>
                </a:gridCol>
              </a:tblGrid>
              <a:tr h="38438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PDG(9)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PUD(9)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PMD(9)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PTE(9)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Offset(12)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94690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983E21B-7C4B-AD40-2D26-DE80F6E06703}"/>
              </a:ext>
            </a:extLst>
          </p:cNvPr>
          <p:cNvCxnSpPr/>
          <p:nvPr/>
        </p:nvCxnSpPr>
        <p:spPr>
          <a:xfrm>
            <a:off x="2950464" y="2698835"/>
            <a:ext cx="0" cy="420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297B7B7-4780-C53F-6050-06AE9E3C372C}"/>
              </a:ext>
            </a:extLst>
          </p:cNvPr>
          <p:cNvCxnSpPr/>
          <p:nvPr/>
        </p:nvCxnSpPr>
        <p:spPr>
          <a:xfrm>
            <a:off x="4209288" y="2698835"/>
            <a:ext cx="0" cy="420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76F1B1D-9607-C43E-261C-848463A0C8A6}"/>
              </a:ext>
            </a:extLst>
          </p:cNvPr>
          <p:cNvCxnSpPr/>
          <p:nvPr/>
        </p:nvCxnSpPr>
        <p:spPr>
          <a:xfrm>
            <a:off x="5394960" y="2698835"/>
            <a:ext cx="0" cy="420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FB25E57-A791-6FAD-8753-0576E4E66696}"/>
              </a:ext>
            </a:extLst>
          </p:cNvPr>
          <p:cNvCxnSpPr/>
          <p:nvPr/>
        </p:nvCxnSpPr>
        <p:spPr>
          <a:xfrm>
            <a:off x="6635496" y="2698835"/>
            <a:ext cx="0" cy="420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4A49ABC-129E-ABE6-55E6-D214DFAE8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606508"/>
              </p:ext>
            </p:extLst>
          </p:nvPr>
        </p:nvGraphicFramePr>
        <p:xfrm>
          <a:off x="2395726" y="3046646"/>
          <a:ext cx="5394964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8741">
                  <a:extLst>
                    <a:ext uri="{9D8B030D-6E8A-4147-A177-3AD203B41FA5}">
                      <a16:colId xmlns:a16="http://schemas.microsoft.com/office/drawing/2014/main" val="1056397155"/>
                    </a:ext>
                  </a:extLst>
                </a:gridCol>
                <a:gridCol w="1348741">
                  <a:extLst>
                    <a:ext uri="{9D8B030D-6E8A-4147-A177-3AD203B41FA5}">
                      <a16:colId xmlns:a16="http://schemas.microsoft.com/office/drawing/2014/main" val="2150777835"/>
                    </a:ext>
                  </a:extLst>
                </a:gridCol>
                <a:gridCol w="1348741">
                  <a:extLst>
                    <a:ext uri="{9D8B030D-6E8A-4147-A177-3AD203B41FA5}">
                      <a16:colId xmlns:a16="http://schemas.microsoft.com/office/drawing/2014/main" val="4062840032"/>
                    </a:ext>
                  </a:extLst>
                </a:gridCol>
                <a:gridCol w="1348741">
                  <a:extLst>
                    <a:ext uri="{9D8B030D-6E8A-4147-A177-3AD203B41FA5}">
                      <a16:colId xmlns:a16="http://schemas.microsoft.com/office/drawing/2014/main" val="1816993756"/>
                    </a:ext>
                  </a:extLst>
                </a:gridCol>
              </a:tblGrid>
              <a:tr h="641097">
                <a:tc>
                  <a:txBody>
                    <a:bodyPr/>
                    <a:lstStyle/>
                    <a:p>
                      <a:r>
                        <a:rPr lang="en-IN" dirty="0"/>
                        <a:t>Level 4</a:t>
                      </a:r>
                    </a:p>
                    <a:p>
                      <a:r>
                        <a:rPr lang="en-IN" dirty="0"/>
                        <a:t>Page </a:t>
                      </a:r>
                    </a:p>
                    <a:p>
                      <a:r>
                        <a:rPr lang="en-IN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Level 3</a:t>
                      </a:r>
                    </a:p>
                    <a:p>
                      <a:r>
                        <a:rPr lang="en-IN" dirty="0"/>
                        <a:t>Page </a:t>
                      </a:r>
                    </a:p>
                    <a:p>
                      <a:r>
                        <a:rPr lang="en-IN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Level 2</a:t>
                      </a:r>
                    </a:p>
                    <a:p>
                      <a:r>
                        <a:rPr lang="en-IN" dirty="0"/>
                        <a:t>Page </a:t>
                      </a:r>
                    </a:p>
                    <a:p>
                      <a:r>
                        <a:rPr lang="en-IN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Level 1</a:t>
                      </a:r>
                    </a:p>
                    <a:p>
                      <a:r>
                        <a:rPr lang="en-IN" dirty="0"/>
                        <a:t>Page </a:t>
                      </a:r>
                    </a:p>
                    <a:p>
                      <a:r>
                        <a:rPr lang="en-IN" dirty="0"/>
                        <a:t>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24295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E911785-20C8-D212-0DD4-A94D0EAB3A88}"/>
              </a:ext>
            </a:extLst>
          </p:cNvPr>
          <p:cNvCxnSpPr>
            <a:cxnSpLocks/>
          </p:cNvCxnSpPr>
          <p:nvPr/>
        </p:nvCxnSpPr>
        <p:spPr>
          <a:xfrm>
            <a:off x="3105912" y="3476414"/>
            <a:ext cx="5943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69976BC-6A15-C6A6-82D6-C5850C02A2B2}"/>
              </a:ext>
            </a:extLst>
          </p:cNvPr>
          <p:cNvCxnSpPr>
            <a:cxnSpLocks/>
          </p:cNvCxnSpPr>
          <p:nvPr/>
        </p:nvCxnSpPr>
        <p:spPr>
          <a:xfrm>
            <a:off x="4433316" y="3503846"/>
            <a:ext cx="6019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137EE10-A5BA-B01C-A4B5-0A5D31AD491B}"/>
              </a:ext>
            </a:extLst>
          </p:cNvPr>
          <p:cNvCxnSpPr>
            <a:cxnSpLocks/>
          </p:cNvCxnSpPr>
          <p:nvPr/>
        </p:nvCxnSpPr>
        <p:spPr>
          <a:xfrm>
            <a:off x="5748528" y="3503846"/>
            <a:ext cx="6675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C5DBFCF-3893-CD5D-A9ED-10943B5C2A3C}"/>
              </a:ext>
            </a:extLst>
          </p:cNvPr>
          <p:cNvCxnSpPr>
            <a:cxnSpLocks/>
          </p:cNvCxnSpPr>
          <p:nvPr/>
        </p:nvCxnSpPr>
        <p:spPr>
          <a:xfrm>
            <a:off x="8991600" y="2506641"/>
            <a:ext cx="0" cy="612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D693349-DA47-C37B-5FA2-10E53D13E22B}"/>
              </a:ext>
            </a:extLst>
          </p:cNvPr>
          <p:cNvCxnSpPr/>
          <p:nvPr/>
        </p:nvCxnSpPr>
        <p:spPr>
          <a:xfrm>
            <a:off x="8442960" y="2506641"/>
            <a:ext cx="5486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1C30B16-53CA-A9E1-8086-91599EBDB212}"/>
              </a:ext>
            </a:extLst>
          </p:cNvPr>
          <p:cNvCxnSpPr>
            <a:cxnSpLocks/>
          </p:cNvCxnSpPr>
          <p:nvPr/>
        </p:nvCxnSpPr>
        <p:spPr>
          <a:xfrm>
            <a:off x="7123178" y="3503846"/>
            <a:ext cx="6675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5F5B6CC-B8C7-274A-06E1-98879E14B7A0}"/>
              </a:ext>
            </a:extLst>
          </p:cNvPr>
          <p:cNvSpPr txBox="1"/>
          <p:nvPr/>
        </p:nvSpPr>
        <p:spPr>
          <a:xfrm>
            <a:off x="7839458" y="3229527"/>
            <a:ext cx="2828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Physical Frame + Offset </a:t>
            </a:r>
          </a:p>
          <a:p>
            <a:r>
              <a:rPr lang="en-IN" dirty="0"/>
              <a:t>= Physical Address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What is a Page Fault? 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6335792"/>
              </p:ext>
            </p:extLst>
          </p:nvPr>
        </p:nvGraphicFramePr>
        <p:xfrm>
          <a:off x="1097280" y="2029555"/>
          <a:ext cx="9189720" cy="27988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2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2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82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Type</a:t>
                      </a:r>
                    </a:p>
                  </a:txBody>
                  <a:tcPr marL="83819" marR="8381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Cause</a:t>
                      </a:r>
                    </a:p>
                  </a:txBody>
                  <a:tcPr marL="83819" marR="8381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Cost</a:t>
                      </a:r>
                    </a:p>
                  </a:txBody>
                  <a:tcPr marL="83819" marR="838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3689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Minor fault</a:t>
                      </a:r>
                    </a:p>
                  </a:txBody>
                  <a:tcPr marL="83819" marR="8381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Page exists but no physical frame yet (first access)</a:t>
                      </a:r>
                    </a:p>
                  </a:txBody>
                  <a:tcPr marL="83819" marR="8381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~microseconds</a:t>
                      </a:r>
                    </a:p>
                  </a:txBody>
                  <a:tcPr marL="83819" marR="838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3689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 dirty="0"/>
                        <a:t>Major fault</a:t>
                      </a:r>
                    </a:p>
                  </a:txBody>
                  <a:tcPr marL="83819" marR="8381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Page data must be read from disk/swap</a:t>
                      </a:r>
                    </a:p>
                  </a:txBody>
                  <a:tcPr marL="83819" marR="8381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~milliseconds (1000× slower)</a:t>
                      </a:r>
                    </a:p>
                  </a:txBody>
                  <a:tcPr marL="83819" marR="838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3689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 dirty="0"/>
                        <a:t>Invalid fault</a:t>
                      </a:r>
                    </a:p>
                  </a:txBody>
                  <a:tcPr marL="83819" marR="8381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Access to unmapped address</a:t>
                      </a:r>
                    </a:p>
                  </a:txBody>
                  <a:tcPr marL="83819" marR="8381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→ SIGSEGV (crash)</a:t>
                      </a:r>
                    </a:p>
                  </a:txBody>
                  <a:tcPr marL="83819" marR="838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68074F9-462C-88F7-3E87-6BA5E858E65D}"/>
              </a:ext>
            </a:extLst>
          </p:cNvPr>
          <p:cNvSpPr txBox="1"/>
          <p:nvPr/>
        </p:nvSpPr>
        <p:spPr>
          <a:xfrm>
            <a:off x="990052" y="5087404"/>
            <a:ext cx="76626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insight:</a:t>
            </a:r>
            <a:r>
              <a:rPr lang="en-US" dirty="0"/>
              <a:t> </a:t>
            </a:r>
            <a:r>
              <a:rPr lang="en-US" dirty="0">
                <a:latin typeface="Courier"/>
              </a:rPr>
              <a:t>malloc()</a:t>
            </a:r>
            <a:r>
              <a:rPr lang="en-US" dirty="0"/>
              <a:t> does NOT allocate physical memory. It only reserves virtual addresses. Physical frames are allocated on first access via minor faults.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269DE304-67F8-1A20-92F5-7F544626ED07}"/>
              </a:ext>
            </a:extLst>
          </p:cNvPr>
          <p:cNvSpPr/>
          <p:nvPr/>
        </p:nvSpPr>
        <p:spPr>
          <a:xfrm>
            <a:off x="5481930" y="3302619"/>
            <a:ext cx="1019556" cy="2670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686144D1-1DFE-8100-485C-B6A492F3B34F}"/>
              </a:ext>
            </a:extLst>
          </p:cNvPr>
          <p:cNvSpPr/>
          <p:nvPr/>
        </p:nvSpPr>
        <p:spPr>
          <a:xfrm>
            <a:off x="4898238" y="2262915"/>
            <a:ext cx="1152144" cy="2864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C1679F6D-3894-8062-E33A-3A7DFF3BD756}"/>
              </a:ext>
            </a:extLst>
          </p:cNvPr>
          <p:cNvSpPr/>
          <p:nvPr/>
        </p:nvSpPr>
        <p:spPr>
          <a:xfrm>
            <a:off x="1704036" y="1764962"/>
            <a:ext cx="1420368" cy="2695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Flowchart: Decision 47">
            <a:extLst>
              <a:ext uri="{FF2B5EF4-FFF2-40B4-BE49-F238E27FC236}">
                <a16:creationId xmlns:a16="http://schemas.microsoft.com/office/drawing/2014/main" id="{A5A62AA1-9B8D-2A43-67FC-136381C29DCB}"/>
              </a:ext>
            </a:extLst>
          </p:cNvPr>
          <p:cNvSpPr/>
          <p:nvPr/>
        </p:nvSpPr>
        <p:spPr>
          <a:xfrm>
            <a:off x="3368142" y="2165892"/>
            <a:ext cx="1097280" cy="432816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2F82802-5258-1B15-60C7-D32AE9E8DBED}"/>
              </a:ext>
            </a:extLst>
          </p:cNvPr>
          <p:cNvSpPr/>
          <p:nvPr/>
        </p:nvSpPr>
        <p:spPr>
          <a:xfrm>
            <a:off x="1710030" y="2262915"/>
            <a:ext cx="1377696" cy="2695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0E435DC-BEFD-F9E5-C397-DFE0EAFA289A}"/>
              </a:ext>
            </a:extLst>
          </p:cNvPr>
          <p:cNvSpPr/>
          <p:nvPr/>
        </p:nvSpPr>
        <p:spPr>
          <a:xfrm>
            <a:off x="2508606" y="2728412"/>
            <a:ext cx="2578608" cy="2695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520" y="197580"/>
            <a:ext cx="7543800" cy="1450757"/>
          </a:xfrm>
        </p:spPr>
        <p:txBody>
          <a:bodyPr>
            <a:normAutofit/>
          </a:bodyPr>
          <a:lstStyle/>
          <a:p>
            <a:r>
              <a:rPr b="1" dirty="0"/>
              <a:t>Demand Paging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8143" y="1697263"/>
            <a:ext cx="7818121" cy="4399618"/>
          </a:xfrm>
        </p:spPr>
        <p:txBody>
          <a:bodyPr>
            <a:normAutofit/>
          </a:bodyPr>
          <a:lstStyle/>
          <a:p>
            <a:pPr indent="0">
              <a:lnSpc>
                <a:spcPct val="150000"/>
              </a:lnSpc>
              <a:buNone/>
            </a:pPr>
            <a:r>
              <a:rPr lang="en-IN" sz="1200" dirty="0">
                <a:solidFill>
                  <a:schemeClr val="tx1"/>
                </a:solidFill>
              </a:rPr>
              <a:t>  </a:t>
            </a:r>
            <a:r>
              <a:rPr lang="en-IN" sz="1100" dirty="0">
                <a:solidFill>
                  <a:schemeClr val="tx1"/>
                </a:solidFill>
              </a:rPr>
              <a:t>Program: mem[0] = 'A’</a:t>
            </a:r>
          </a:p>
          <a:p>
            <a:pPr indent="0">
              <a:lnSpc>
                <a:spcPct val="200000"/>
              </a:lnSpc>
              <a:buNone/>
            </a:pPr>
            <a:r>
              <a:rPr lang="en-IN" sz="1100" dirty="0">
                <a:solidFill>
                  <a:schemeClr val="tx1"/>
                </a:solidFill>
              </a:rPr>
              <a:t>MMU checks page table          	       Present?</a:t>
            </a:r>
          </a:p>
          <a:p>
            <a:pPr indent="0">
              <a:lnSpc>
                <a:spcPct val="1500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	PAGE FAULT (trap to kernel: do_page_fault)</a:t>
            </a:r>
          </a:p>
          <a:p>
            <a:pPr indent="0">
              <a:buNone/>
            </a:pPr>
            <a:r>
              <a:rPr lang="en-US" sz="1100" dirty="0"/>
              <a:t>			              	</a:t>
            </a:r>
          </a:p>
          <a:p>
            <a:pPr indent="0">
              <a:buNone/>
            </a:pPr>
            <a:r>
              <a:rPr lang="en-US" sz="1100" dirty="0"/>
              <a:t>					</a:t>
            </a:r>
          </a:p>
          <a:p>
            <a:pPr indent="0">
              <a:buNone/>
            </a:pPr>
            <a:r>
              <a:rPr lang="en-IN" sz="1100" dirty="0"/>
              <a:t>   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A5FF059-8457-0FD2-7CC8-8AAB879D4C17}"/>
              </a:ext>
            </a:extLst>
          </p:cNvPr>
          <p:cNvSpPr txBox="1"/>
          <p:nvPr/>
        </p:nvSpPr>
        <p:spPr>
          <a:xfrm>
            <a:off x="2225044" y="5745427"/>
            <a:ext cx="7744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the beauty of demand paging — the kernel is lazy in the best way. It never does work upfront that might not be needed.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D2974E5-E5D9-166F-C361-09DAC7D2905A}"/>
              </a:ext>
            </a:extLst>
          </p:cNvPr>
          <p:cNvCxnSpPr/>
          <p:nvPr/>
        </p:nvCxnSpPr>
        <p:spPr>
          <a:xfrm>
            <a:off x="2816454" y="2051593"/>
            <a:ext cx="0" cy="2113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D9C3BC6-FA8F-4FC2-34A8-4C5D9FA3B784}"/>
              </a:ext>
            </a:extLst>
          </p:cNvPr>
          <p:cNvCxnSpPr/>
          <p:nvPr/>
        </p:nvCxnSpPr>
        <p:spPr>
          <a:xfrm>
            <a:off x="3087726" y="2382300"/>
            <a:ext cx="2804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88AB2D8-4BE5-FB7F-614E-FB1252C8F155}"/>
              </a:ext>
            </a:extLst>
          </p:cNvPr>
          <p:cNvCxnSpPr>
            <a:cxnSpLocks/>
          </p:cNvCxnSpPr>
          <p:nvPr/>
        </p:nvCxnSpPr>
        <p:spPr>
          <a:xfrm>
            <a:off x="3916782" y="2534700"/>
            <a:ext cx="0" cy="193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ACAD198-F61D-5727-DF6E-E8B587710C21}"/>
              </a:ext>
            </a:extLst>
          </p:cNvPr>
          <p:cNvSpPr txBox="1"/>
          <p:nvPr/>
        </p:nvSpPr>
        <p:spPr>
          <a:xfrm>
            <a:off x="3892690" y="2532494"/>
            <a:ext cx="3529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NO</a:t>
            </a:r>
            <a:endParaRPr lang="en-IN" sz="1000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D836C5C-1C2E-1AF6-BEB9-02FDFCC14341}"/>
              </a:ext>
            </a:extLst>
          </p:cNvPr>
          <p:cNvCxnSpPr>
            <a:cxnSpLocks/>
          </p:cNvCxnSpPr>
          <p:nvPr/>
        </p:nvCxnSpPr>
        <p:spPr>
          <a:xfrm>
            <a:off x="4465422" y="2382300"/>
            <a:ext cx="4328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0218A881-24C0-47D6-AC72-6935EC98CBE1}"/>
              </a:ext>
            </a:extLst>
          </p:cNvPr>
          <p:cNvSpPr txBox="1"/>
          <p:nvPr/>
        </p:nvSpPr>
        <p:spPr>
          <a:xfrm>
            <a:off x="4465422" y="2165893"/>
            <a:ext cx="3690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YES</a:t>
            </a:r>
            <a:endParaRPr lang="en-IN" sz="1000" dirty="0"/>
          </a:p>
        </p:txBody>
      </p:sp>
      <p:sp>
        <p:nvSpPr>
          <p:cNvPr id="57" name="Flowchart: Decision 56">
            <a:extLst>
              <a:ext uri="{FF2B5EF4-FFF2-40B4-BE49-F238E27FC236}">
                <a16:creationId xmlns:a16="http://schemas.microsoft.com/office/drawing/2014/main" id="{772A1C81-A714-4874-9163-2AF83E8ECB5A}"/>
              </a:ext>
            </a:extLst>
          </p:cNvPr>
          <p:cNvSpPr/>
          <p:nvPr/>
        </p:nvSpPr>
        <p:spPr>
          <a:xfrm>
            <a:off x="3165348" y="3145316"/>
            <a:ext cx="1502868" cy="549565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C19BBC1-9211-48D1-85DA-10475B054204}"/>
              </a:ext>
            </a:extLst>
          </p:cNvPr>
          <p:cNvSpPr txBox="1"/>
          <p:nvPr/>
        </p:nvSpPr>
        <p:spPr>
          <a:xfrm>
            <a:off x="3298038" y="3238303"/>
            <a:ext cx="123748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Kernel: find_vma()</a:t>
            </a:r>
          </a:p>
          <a:p>
            <a:pPr algn="ctr"/>
            <a:r>
              <a:rPr lang="en-US" sz="1050" dirty="0"/>
              <a:t>valid VMA?</a:t>
            </a:r>
            <a:endParaRPr lang="en-IN" sz="1050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C9310AF-A44C-F625-8727-941D880C5106}"/>
              </a:ext>
            </a:extLst>
          </p:cNvPr>
          <p:cNvCxnSpPr/>
          <p:nvPr/>
        </p:nvCxnSpPr>
        <p:spPr>
          <a:xfrm>
            <a:off x="3916782" y="2997991"/>
            <a:ext cx="0" cy="1473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330736B-A930-E6E4-545F-76956C37552B}"/>
              </a:ext>
            </a:extLst>
          </p:cNvPr>
          <p:cNvCxnSpPr>
            <a:stCxn id="57" idx="3"/>
          </p:cNvCxnSpPr>
          <p:nvPr/>
        </p:nvCxnSpPr>
        <p:spPr>
          <a:xfrm flipV="1">
            <a:off x="4668216" y="3400332"/>
            <a:ext cx="827430" cy="19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CD15670C-BEFC-9D4C-D124-347995E1DB71}"/>
              </a:ext>
            </a:extLst>
          </p:cNvPr>
          <p:cNvSpPr txBox="1"/>
          <p:nvPr/>
        </p:nvSpPr>
        <p:spPr>
          <a:xfrm>
            <a:off x="4800906" y="3191878"/>
            <a:ext cx="5120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NO</a:t>
            </a:r>
            <a:endParaRPr lang="en-IN" sz="1000" dirty="0"/>
          </a:p>
        </p:txBody>
      </p:sp>
      <p:sp>
        <p:nvSpPr>
          <p:cNvPr id="65" name="Flowchart: Decision 64">
            <a:extLst>
              <a:ext uri="{FF2B5EF4-FFF2-40B4-BE49-F238E27FC236}">
                <a16:creationId xmlns:a16="http://schemas.microsoft.com/office/drawing/2014/main" id="{B92E0599-9AA2-D2C2-2018-DAF405EF609C}"/>
              </a:ext>
            </a:extLst>
          </p:cNvPr>
          <p:cNvSpPr/>
          <p:nvPr/>
        </p:nvSpPr>
        <p:spPr>
          <a:xfrm>
            <a:off x="3165348" y="3897072"/>
            <a:ext cx="1502868" cy="514372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D8472F1-7057-1517-F654-E46DB4ECF4C5}"/>
              </a:ext>
            </a:extLst>
          </p:cNvPr>
          <p:cNvSpPr txBox="1"/>
          <p:nvPr/>
        </p:nvSpPr>
        <p:spPr>
          <a:xfrm>
            <a:off x="3561792" y="3935076"/>
            <a:ext cx="86095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Is the page</a:t>
            </a:r>
          </a:p>
          <a:p>
            <a:r>
              <a:rPr lang="en-IN" sz="1100" dirty="0"/>
              <a:t>on swap?</a:t>
            </a:r>
          </a:p>
          <a:p>
            <a:endParaRPr lang="en-IN" sz="1100" dirty="0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3991327E-B908-446B-B16F-1E6CACBBCC0E}"/>
              </a:ext>
            </a:extLst>
          </p:cNvPr>
          <p:cNvCxnSpPr>
            <a:endCxn id="65" idx="0"/>
          </p:cNvCxnSpPr>
          <p:nvPr/>
        </p:nvCxnSpPr>
        <p:spPr>
          <a:xfrm>
            <a:off x="3916782" y="3694880"/>
            <a:ext cx="0" cy="202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E92B304B-0E8B-10C1-960E-17D0A05B6FEA}"/>
              </a:ext>
            </a:extLst>
          </p:cNvPr>
          <p:cNvSpPr txBox="1"/>
          <p:nvPr/>
        </p:nvSpPr>
        <p:spPr>
          <a:xfrm>
            <a:off x="3846678" y="3665500"/>
            <a:ext cx="6187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YES</a:t>
            </a:r>
            <a:endParaRPr lang="en-IN" sz="1000" dirty="0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463406B-2AE0-A225-ED39-9B29BC5F0164}"/>
              </a:ext>
            </a:extLst>
          </p:cNvPr>
          <p:cNvCxnSpPr>
            <a:stCxn id="65" idx="3"/>
          </p:cNvCxnSpPr>
          <p:nvPr/>
        </p:nvCxnSpPr>
        <p:spPr>
          <a:xfrm>
            <a:off x="4668216" y="4154258"/>
            <a:ext cx="8274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5106D38B-E7EA-7BDF-2DAE-86BA63EF7579}"/>
              </a:ext>
            </a:extLst>
          </p:cNvPr>
          <p:cNvSpPr/>
          <p:nvPr/>
        </p:nvSpPr>
        <p:spPr>
          <a:xfrm>
            <a:off x="5495646" y="3935076"/>
            <a:ext cx="1225296" cy="51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Major fault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(do_swap_page)</a:t>
            </a:r>
            <a:endParaRPr lang="en-IN" sz="1100" dirty="0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922AA37-A26C-D8B0-16FB-F34B40C47F60}"/>
              </a:ext>
            </a:extLst>
          </p:cNvPr>
          <p:cNvSpPr txBox="1"/>
          <p:nvPr/>
        </p:nvSpPr>
        <p:spPr>
          <a:xfrm>
            <a:off x="4826605" y="3926255"/>
            <a:ext cx="6187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YES</a:t>
            </a:r>
            <a:endParaRPr lang="en-IN" sz="10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58635DD-A170-9FEB-59F7-67D0E9023F31}"/>
              </a:ext>
            </a:extLst>
          </p:cNvPr>
          <p:cNvSpPr txBox="1"/>
          <p:nvPr/>
        </p:nvSpPr>
        <p:spPr>
          <a:xfrm>
            <a:off x="4974042" y="2265396"/>
            <a:ext cx="1048513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Normal access</a:t>
            </a:r>
            <a:endParaRPr lang="en-IN" sz="1100" dirty="0"/>
          </a:p>
          <a:p>
            <a:endParaRPr lang="en-IN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0D80CFF-ADBA-FC2A-4450-344A4655BABA}"/>
              </a:ext>
            </a:extLst>
          </p:cNvPr>
          <p:cNvSpPr txBox="1"/>
          <p:nvPr/>
        </p:nvSpPr>
        <p:spPr>
          <a:xfrm>
            <a:off x="5640528" y="3314987"/>
            <a:ext cx="8656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SIGSEGV</a:t>
            </a:r>
            <a:endParaRPr lang="en-IN" sz="1100" dirty="0"/>
          </a:p>
        </p:txBody>
      </p: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943C34DB-C952-5882-0479-E8C40A561A6F}"/>
              </a:ext>
            </a:extLst>
          </p:cNvPr>
          <p:cNvCxnSpPr/>
          <p:nvPr/>
        </p:nvCxnSpPr>
        <p:spPr>
          <a:xfrm rot="10800000" flipV="1">
            <a:off x="3165348" y="4411444"/>
            <a:ext cx="751434" cy="531176"/>
          </a:xfrm>
          <a:prstGeom prst="bentConnector3">
            <a:avLst>
              <a:gd name="adj1" fmla="val -110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F3952AA4-A2A8-2CB7-387E-E7DA8FAF84B6}"/>
              </a:ext>
            </a:extLst>
          </p:cNvPr>
          <p:cNvSpPr txBox="1"/>
          <p:nvPr/>
        </p:nvSpPr>
        <p:spPr>
          <a:xfrm>
            <a:off x="3416909" y="4729388"/>
            <a:ext cx="6522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NO</a:t>
            </a:r>
            <a:endParaRPr lang="en-IN" sz="1000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B1CA438-6FF5-52DF-F658-D81B90ADF4E1}"/>
              </a:ext>
            </a:extLst>
          </p:cNvPr>
          <p:cNvSpPr/>
          <p:nvPr/>
        </p:nvSpPr>
        <p:spPr>
          <a:xfrm>
            <a:off x="1710029" y="4411444"/>
            <a:ext cx="1455318" cy="988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Minor Fault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</a:rPr>
              <a:t>Allocate frame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</a:rPr>
              <a:t>Update PTE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</a:rPr>
              <a:t> Flush TLB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</a:rPr>
              <a:t> Resume</a:t>
            </a:r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1840CEA0-3515-81F5-C64A-1B64D53C4078}"/>
              </a:ext>
            </a:extLst>
          </p:cNvPr>
          <p:cNvSpPr/>
          <p:nvPr/>
        </p:nvSpPr>
        <p:spPr>
          <a:xfrm>
            <a:off x="8372659" y="2265396"/>
            <a:ext cx="2147211" cy="2603005"/>
          </a:xfrm>
          <a:prstGeom prst="foldedCorner">
            <a:avLst>
              <a:gd name="adj" fmla="val 1516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tx1"/>
              </a:solidFill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Note</a:t>
            </a:r>
            <a:endParaRPr lang="en-US" sz="1200" b="1" dirty="0">
              <a:solidFill>
                <a:schemeClr val="tx1"/>
              </a:solidFill>
            </a:endParaRPr>
          </a:p>
          <a:p>
            <a:pPr algn="ctr"/>
            <a:endParaRPr lang="en-US" sz="1200" b="1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On a first read (not write), the kernel maps the global </a:t>
            </a:r>
            <a:r>
              <a:rPr lang="en-US" sz="1400" dirty="0" err="1">
                <a:solidFill>
                  <a:schemeClr val="tx1"/>
                </a:solidFill>
              </a:rPr>
              <a:t>empty_zero_page</a:t>
            </a:r>
            <a:r>
              <a:rPr lang="en-US" sz="1400" dirty="0">
                <a:solidFill>
                  <a:schemeClr val="tx1"/>
                </a:solidFill>
              </a:rPr>
              <a:t> instead of allocating a new frame — a read-optimization. A real physical frame is allocated only on the first write (copy-on-write from the zero page).</a:t>
            </a:r>
            <a:endParaRPr lang="en-IN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A404B-F12B-5B82-9844-32159F26A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97BE6-AB01-6B0E-7A81-6ADE72C48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" y="28018"/>
            <a:ext cx="10058400" cy="1450757"/>
          </a:xfrm>
        </p:spPr>
        <p:txBody>
          <a:bodyPr>
            <a:normAutofit/>
          </a:bodyPr>
          <a:lstStyle/>
          <a:p>
            <a:r>
              <a:rPr lang="en-IN" b="1" dirty="0"/>
              <a:t>Our Demo Program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3EE9D-DC4B-7C46-FB1D-D32BABF63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777231"/>
            <a:ext cx="8793481" cy="43630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demand_paging_demo.c</a:t>
            </a:r>
            <a:r>
              <a:rPr lang="en-US" dirty="0"/>
              <a:t> — Three phases: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D9E239-581E-9DE3-8B04-40E97CB043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497475"/>
              </p:ext>
            </p:extLst>
          </p:nvPr>
        </p:nvGraphicFramePr>
        <p:xfrm>
          <a:off x="731520" y="2183017"/>
          <a:ext cx="6976872" cy="25544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4064">
                  <a:extLst>
                    <a:ext uri="{9D8B030D-6E8A-4147-A177-3AD203B41FA5}">
                      <a16:colId xmlns:a16="http://schemas.microsoft.com/office/drawing/2014/main" val="328795207"/>
                    </a:ext>
                  </a:extLst>
                </a:gridCol>
                <a:gridCol w="2477410">
                  <a:extLst>
                    <a:ext uri="{9D8B030D-6E8A-4147-A177-3AD203B41FA5}">
                      <a16:colId xmlns:a16="http://schemas.microsoft.com/office/drawing/2014/main" val="80130938"/>
                    </a:ext>
                  </a:extLst>
                </a:gridCol>
                <a:gridCol w="2605398">
                  <a:extLst>
                    <a:ext uri="{9D8B030D-6E8A-4147-A177-3AD203B41FA5}">
                      <a16:colId xmlns:a16="http://schemas.microsoft.com/office/drawing/2014/main" val="1368736711"/>
                    </a:ext>
                  </a:extLst>
                </a:gridCol>
              </a:tblGrid>
              <a:tr h="334397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What happens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Expected faults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2464827"/>
                  </a:ext>
                </a:extLst>
              </a:tr>
              <a:tr h="82079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IN" sz="1600" b="1" dirty="0"/>
                        <a:t>1</a:t>
                      </a:r>
                      <a:r>
                        <a:rPr sz="1600" b="1" dirty="0"/>
                        <a:t>. malloc(512 MB)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Reserve virtual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~0 faults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344535"/>
                  </a:ext>
                </a:extLst>
              </a:tr>
              <a:tr h="57759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b="1" dirty="0"/>
                        <a:t>2. Touch all 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Write one byte per 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~131,072 minor faults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595801"/>
                  </a:ext>
                </a:extLst>
              </a:tr>
              <a:tr h="82079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b="1" dirty="0"/>
                        <a:t>3. Re-touch 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Write again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~0 faults (already in RAM)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25303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A8C6908-A3A3-259F-03F4-5F06B5AAAFC1}"/>
              </a:ext>
            </a:extLst>
          </p:cNvPr>
          <p:cNvSpPr txBox="1"/>
          <p:nvPr/>
        </p:nvSpPr>
        <p:spPr>
          <a:xfrm>
            <a:off x="660654" y="4737476"/>
            <a:ext cx="618591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900" dirty="0"/>
              <a:t>Three access patterns to compare: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b="1" dirty="0"/>
              <a:t>Sequential</a:t>
            </a:r>
            <a:r>
              <a:rPr lang="en-US" sz="1700" dirty="0"/>
              <a:t> — page 0, 1, 2, 3 … (best locality)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b="1" dirty="0"/>
              <a:t>Random</a:t>
            </a:r>
            <a:r>
              <a:rPr lang="en-US" sz="1700" dirty="0"/>
              <a:t> — Fisher-Yates shuffled order (worst TLB </a:t>
            </a:r>
            <a:r>
              <a:rPr lang="en-US" sz="1700" dirty="0" err="1"/>
              <a:t>behaviour</a:t>
            </a:r>
            <a:r>
              <a:rPr lang="en-US" sz="1700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b="1" dirty="0"/>
              <a:t>Stride-64</a:t>
            </a:r>
            <a:r>
              <a:rPr lang="en-US" sz="1700" dirty="0"/>
              <a:t> — every 64th page, then wrap (moderate)</a:t>
            </a:r>
          </a:p>
          <a:p>
            <a:r>
              <a:rPr lang="en-US" dirty="0"/>
              <a:t>We measure faults by reading /proc/self/stat (fields 10 &amp; 12)</a:t>
            </a:r>
          </a:p>
        </p:txBody>
      </p:sp>
    </p:spTree>
    <p:extLst>
      <p:ext uri="{BB962C8B-B14F-4D97-AF65-F5344CB8AC3E}">
        <p14:creationId xmlns:p14="http://schemas.microsoft.com/office/powerpoint/2010/main" val="1535179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0861B-1908-27DC-56D6-0006E0B6D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6C959-CFC7-BFFF-56AB-ABDC77A3A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" y="28018"/>
            <a:ext cx="10058400" cy="1450757"/>
          </a:xfrm>
        </p:spPr>
        <p:txBody>
          <a:bodyPr>
            <a:normAutofit/>
          </a:bodyPr>
          <a:lstStyle/>
          <a:p>
            <a:r>
              <a:rPr lang="en-IN" b="1" dirty="0"/>
              <a:t>Our Demo Program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0C994-65DA-B52C-02E3-DCD269877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777231"/>
            <a:ext cx="8793481" cy="43630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demand_paging_demo.c</a:t>
            </a:r>
            <a:r>
              <a:rPr lang="en-US" dirty="0"/>
              <a:t> — Three phases: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145883-B046-9548-4E0E-35E0E4980746}"/>
              </a:ext>
            </a:extLst>
          </p:cNvPr>
          <p:cNvGraphicFramePr>
            <a:graphicFrameLocks noGrp="1"/>
          </p:cNvGraphicFramePr>
          <p:nvPr/>
        </p:nvGraphicFramePr>
        <p:xfrm>
          <a:off x="731520" y="2183016"/>
          <a:ext cx="4517136" cy="3658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6301">
                  <a:extLst>
                    <a:ext uri="{9D8B030D-6E8A-4147-A177-3AD203B41FA5}">
                      <a16:colId xmlns:a16="http://schemas.microsoft.com/office/drawing/2014/main" val="328795207"/>
                    </a:ext>
                  </a:extLst>
                </a:gridCol>
                <a:gridCol w="1603985">
                  <a:extLst>
                    <a:ext uri="{9D8B030D-6E8A-4147-A177-3AD203B41FA5}">
                      <a16:colId xmlns:a16="http://schemas.microsoft.com/office/drawing/2014/main" val="80130938"/>
                    </a:ext>
                  </a:extLst>
                </a:gridCol>
                <a:gridCol w="1686850">
                  <a:extLst>
                    <a:ext uri="{9D8B030D-6E8A-4147-A177-3AD203B41FA5}">
                      <a16:colId xmlns:a16="http://schemas.microsoft.com/office/drawing/2014/main" val="1368736711"/>
                    </a:ext>
                  </a:extLst>
                </a:gridCol>
              </a:tblGrid>
              <a:tr h="479129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What happens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Expected faults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2464827"/>
                  </a:ext>
                </a:extLst>
              </a:tr>
              <a:tr h="1176043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IN" sz="1600" b="1" dirty="0"/>
                        <a:t>1</a:t>
                      </a:r>
                      <a:r>
                        <a:rPr sz="1600" b="1" dirty="0"/>
                        <a:t>. malloc(512 MB)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Reserve virtual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~0 faults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344535"/>
                  </a:ext>
                </a:extLst>
              </a:tr>
              <a:tr h="82758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b="1" dirty="0"/>
                        <a:t>2. Touch all 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Write one byte per 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~131,072 minor faults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595801"/>
                  </a:ext>
                </a:extLst>
              </a:tr>
              <a:tr h="1176043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b="1" dirty="0"/>
                        <a:t>3. Re-touch 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Write again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~0 faults (already in RAM)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253035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A7A907BD-6186-4FDD-4907-CDEBBED1A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24" y="2012233"/>
            <a:ext cx="5772956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597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D1D23-D2EC-DEDE-DD83-EB4E306DE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4DAFC-C8C5-B2B6-9699-9D40EE1E5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" y="28018"/>
            <a:ext cx="10058400" cy="1450757"/>
          </a:xfrm>
        </p:spPr>
        <p:txBody>
          <a:bodyPr>
            <a:normAutofit/>
          </a:bodyPr>
          <a:lstStyle/>
          <a:p>
            <a:r>
              <a:rPr lang="en-IN" b="1" dirty="0"/>
              <a:t>Our Demo Program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13996-EA8F-9FF4-2E88-AA2356032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777231"/>
            <a:ext cx="8793481" cy="43630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demand_paging_demo.c</a:t>
            </a:r>
            <a:r>
              <a:rPr lang="en-US" dirty="0"/>
              <a:t> — Three phases: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7F349B-0631-1269-3138-576FD4DD13F0}"/>
              </a:ext>
            </a:extLst>
          </p:cNvPr>
          <p:cNvGraphicFramePr>
            <a:graphicFrameLocks noGrp="1"/>
          </p:cNvGraphicFramePr>
          <p:nvPr/>
        </p:nvGraphicFramePr>
        <p:xfrm>
          <a:off x="731520" y="2183016"/>
          <a:ext cx="4517136" cy="3658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6301">
                  <a:extLst>
                    <a:ext uri="{9D8B030D-6E8A-4147-A177-3AD203B41FA5}">
                      <a16:colId xmlns:a16="http://schemas.microsoft.com/office/drawing/2014/main" val="328795207"/>
                    </a:ext>
                  </a:extLst>
                </a:gridCol>
                <a:gridCol w="1603985">
                  <a:extLst>
                    <a:ext uri="{9D8B030D-6E8A-4147-A177-3AD203B41FA5}">
                      <a16:colId xmlns:a16="http://schemas.microsoft.com/office/drawing/2014/main" val="80130938"/>
                    </a:ext>
                  </a:extLst>
                </a:gridCol>
                <a:gridCol w="1686850">
                  <a:extLst>
                    <a:ext uri="{9D8B030D-6E8A-4147-A177-3AD203B41FA5}">
                      <a16:colId xmlns:a16="http://schemas.microsoft.com/office/drawing/2014/main" val="1368736711"/>
                    </a:ext>
                  </a:extLst>
                </a:gridCol>
              </a:tblGrid>
              <a:tr h="479129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What happens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Expected faults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2464827"/>
                  </a:ext>
                </a:extLst>
              </a:tr>
              <a:tr h="1176043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IN" sz="1600" b="1" dirty="0"/>
                        <a:t>1</a:t>
                      </a:r>
                      <a:r>
                        <a:rPr sz="1600" b="1" dirty="0"/>
                        <a:t>. malloc(512 MB)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Reserve virtual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~0 faults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344535"/>
                  </a:ext>
                </a:extLst>
              </a:tr>
              <a:tr h="82758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b="1" dirty="0"/>
                        <a:t>2. Touch all 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Write one byte per 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~131,072 minor faults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595801"/>
                  </a:ext>
                </a:extLst>
              </a:tr>
              <a:tr h="1176043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b="1" dirty="0"/>
                        <a:t>3. Re-touch 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Write again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~0 faults (already in RAM)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25303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772588D-3EEC-698C-F02F-BC391211F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708" y="0"/>
            <a:ext cx="55822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790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F3DD4-34E2-006A-1E86-39D277CEA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5DEA-083C-A734-2F8C-0D27B42A8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" y="38022"/>
            <a:ext cx="10058400" cy="1450757"/>
          </a:xfrm>
        </p:spPr>
        <p:txBody>
          <a:bodyPr>
            <a:normAutofit/>
          </a:bodyPr>
          <a:lstStyle/>
          <a:p>
            <a:r>
              <a:rPr lang="en-IN" b="1" dirty="0"/>
              <a:t>Our Demo Program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A1B5E-6087-E457-115B-C595DF624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777231"/>
            <a:ext cx="8793481" cy="43630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demand_paging_demo.c</a:t>
            </a:r>
            <a:r>
              <a:rPr lang="en-US" dirty="0"/>
              <a:t> — Three phases: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BE2388-6646-5EA3-1F13-F38EB047ADF5}"/>
              </a:ext>
            </a:extLst>
          </p:cNvPr>
          <p:cNvGraphicFramePr>
            <a:graphicFrameLocks noGrp="1"/>
          </p:cNvGraphicFramePr>
          <p:nvPr/>
        </p:nvGraphicFramePr>
        <p:xfrm>
          <a:off x="731520" y="2183016"/>
          <a:ext cx="4517136" cy="3658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6301">
                  <a:extLst>
                    <a:ext uri="{9D8B030D-6E8A-4147-A177-3AD203B41FA5}">
                      <a16:colId xmlns:a16="http://schemas.microsoft.com/office/drawing/2014/main" val="328795207"/>
                    </a:ext>
                  </a:extLst>
                </a:gridCol>
                <a:gridCol w="1603985">
                  <a:extLst>
                    <a:ext uri="{9D8B030D-6E8A-4147-A177-3AD203B41FA5}">
                      <a16:colId xmlns:a16="http://schemas.microsoft.com/office/drawing/2014/main" val="80130938"/>
                    </a:ext>
                  </a:extLst>
                </a:gridCol>
                <a:gridCol w="1686850">
                  <a:extLst>
                    <a:ext uri="{9D8B030D-6E8A-4147-A177-3AD203B41FA5}">
                      <a16:colId xmlns:a16="http://schemas.microsoft.com/office/drawing/2014/main" val="1368736711"/>
                    </a:ext>
                  </a:extLst>
                </a:gridCol>
              </a:tblGrid>
              <a:tr h="479129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What happens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Expected faults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2464827"/>
                  </a:ext>
                </a:extLst>
              </a:tr>
              <a:tr h="1176043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IN" sz="1600" b="1" dirty="0"/>
                        <a:t>1</a:t>
                      </a:r>
                      <a:r>
                        <a:rPr sz="1600" b="1" dirty="0"/>
                        <a:t>. malloc(512 MB)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Reserve virtual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~0 faults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344535"/>
                  </a:ext>
                </a:extLst>
              </a:tr>
              <a:tr h="82758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b="1" dirty="0"/>
                        <a:t>2. Touch all 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Write one byte per 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~131,072 minor faults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595801"/>
                  </a:ext>
                </a:extLst>
              </a:tr>
              <a:tr h="1176043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b="1" dirty="0"/>
                        <a:t>3. Re-touch 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Write again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~0 faults (already in RAM)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25303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A42B757-DB86-0E7C-0C34-EA4676782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3715" y="2167802"/>
            <a:ext cx="6106377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837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C1A6A-DFCF-0A1B-D883-01A44E3B9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4A823-B498-AA2E-76BA-CBE6D68F3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" y="36303"/>
            <a:ext cx="10058400" cy="1450757"/>
          </a:xfrm>
        </p:spPr>
        <p:txBody>
          <a:bodyPr>
            <a:normAutofit/>
          </a:bodyPr>
          <a:lstStyle/>
          <a:p>
            <a:r>
              <a:rPr lang="en-IN" b="1" dirty="0"/>
              <a:t>Our Demo Program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42869-8553-B132-FB6B-DD90828E3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1" y="2220638"/>
            <a:ext cx="4553711" cy="33206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dirty="0"/>
              <a:t>Three access patterns to compare: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b="1" dirty="0"/>
              <a:t>Sequential</a:t>
            </a:r>
            <a:r>
              <a:rPr lang="en-US" sz="1700" dirty="0"/>
              <a:t> — page 0, 1, 2, 3 … (best locality)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b="1" dirty="0"/>
              <a:t>Random</a:t>
            </a:r>
            <a:r>
              <a:rPr lang="en-US" sz="1700" dirty="0"/>
              <a:t> — Fisher-Yates shuffled order (worst TLB </a:t>
            </a:r>
            <a:r>
              <a:rPr lang="en-US" sz="1700" dirty="0" err="1"/>
              <a:t>behaviour</a:t>
            </a:r>
            <a:r>
              <a:rPr lang="en-US" sz="1700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b="1" dirty="0"/>
              <a:t>Stride-64</a:t>
            </a:r>
            <a:r>
              <a:rPr lang="en-US" sz="1700" dirty="0"/>
              <a:t> — every 64th page, then wrap (moderate)</a:t>
            </a:r>
          </a:p>
          <a:p>
            <a:r>
              <a:rPr lang="en-US" dirty="0"/>
              <a:t>We measure faults by reading /proc/self/stat (fields 10 &amp; 12)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2E00CC-2DB4-4F3F-FF90-34A66CCB8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3966" y="2220638"/>
            <a:ext cx="6049219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306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2B7A8-E16C-2B6A-06EB-E6594431C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E6C90-EABF-7698-42DF-AE2C58BDA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" y="36303"/>
            <a:ext cx="10058400" cy="1450757"/>
          </a:xfrm>
        </p:spPr>
        <p:txBody>
          <a:bodyPr>
            <a:normAutofit/>
          </a:bodyPr>
          <a:lstStyle/>
          <a:p>
            <a:r>
              <a:rPr lang="en-IN" b="1" dirty="0"/>
              <a:t>Our Demo Program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69628-50DC-8B29-3942-07B3336EC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1" y="2220638"/>
            <a:ext cx="4553711" cy="33206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dirty="0"/>
              <a:t>Three access patterns to compare: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b="1" dirty="0"/>
              <a:t>Sequential</a:t>
            </a:r>
            <a:r>
              <a:rPr lang="en-US" sz="1700" dirty="0"/>
              <a:t> — page 0, 1, 2, 3 … (best locality)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b="1" dirty="0"/>
              <a:t>Random</a:t>
            </a:r>
            <a:r>
              <a:rPr lang="en-US" sz="1700" dirty="0"/>
              <a:t> — Fisher-Yates shuffled order (worst TLB </a:t>
            </a:r>
            <a:r>
              <a:rPr lang="en-US" sz="1700" dirty="0" err="1"/>
              <a:t>behaviour</a:t>
            </a:r>
            <a:r>
              <a:rPr lang="en-US" sz="1700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b="1" dirty="0"/>
              <a:t>Stride-64</a:t>
            </a:r>
            <a:r>
              <a:rPr lang="en-US" sz="1700" dirty="0"/>
              <a:t> — every 64th page, then wrap (moderate)</a:t>
            </a:r>
          </a:p>
          <a:p>
            <a:r>
              <a:rPr lang="en-US" dirty="0"/>
              <a:t>We measure faults by reading /proc/self/stat (fields 10 &amp; 12)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7819EF-247B-4C55-BB9F-D64888C1F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508" y="1733024"/>
            <a:ext cx="7322492" cy="5124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84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1E4AF-7055-AE60-D7D6-5223CF8F8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635B7-8C1D-E012-9289-7A54A487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" y="36303"/>
            <a:ext cx="10058400" cy="1450757"/>
          </a:xfrm>
        </p:spPr>
        <p:txBody>
          <a:bodyPr>
            <a:normAutofit/>
          </a:bodyPr>
          <a:lstStyle/>
          <a:p>
            <a:r>
              <a:rPr lang="en-IN" b="1" dirty="0"/>
              <a:t>Our Demo Program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7028A-EE02-36CA-2A88-02508ABCF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1" y="2220638"/>
            <a:ext cx="4553711" cy="33206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dirty="0"/>
              <a:t>Three access patterns to compare: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b="1" dirty="0"/>
              <a:t>Sequential</a:t>
            </a:r>
            <a:r>
              <a:rPr lang="en-US" sz="1700" dirty="0"/>
              <a:t> — page 0, 1, 2, 3 … (best locality)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b="1" dirty="0"/>
              <a:t>Random</a:t>
            </a:r>
            <a:r>
              <a:rPr lang="en-US" sz="1700" dirty="0"/>
              <a:t> — Fisher-Yates shuffled order (worst TLB </a:t>
            </a:r>
            <a:r>
              <a:rPr lang="en-US" sz="1700" dirty="0" err="1"/>
              <a:t>behaviour</a:t>
            </a:r>
            <a:r>
              <a:rPr lang="en-US" sz="1700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b="1" dirty="0"/>
              <a:t>Stride-64</a:t>
            </a:r>
            <a:r>
              <a:rPr lang="en-US" sz="1700" dirty="0"/>
              <a:t> — every 64th page, then wrap (moderate)</a:t>
            </a:r>
          </a:p>
          <a:p>
            <a:r>
              <a:rPr lang="en-US" dirty="0"/>
              <a:t>We measure faults by reading /proc/self/stat (fields 10 &amp; 12)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4CCE91-FD6F-FC06-0CC1-F1E98CD72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220638"/>
            <a:ext cx="6782747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051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DF8F8-E519-E480-42DA-4D3888400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6FD3E-B8A2-20A0-BC85-3B9674C48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LIVE DEM</a:t>
            </a:r>
            <a:r>
              <a:rPr lang="en-IN" b="1" dirty="0"/>
              <a:t>O</a:t>
            </a:r>
            <a:endParaRPr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4EB801-21F4-A5AE-2E73-C741613BAC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302390"/>
            <a:ext cx="6487430" cy="12670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E23158-5677-B7B2-E22D-44C87C72B6BE}"/>
              </a:ext>
            </a:extLst>
          </p:cNvPr>
          <p:cNvSpPr txBox="1"/>
          <p:nvPr/>
        </p:nvSpPr>
        <p:spPr>
          <a:xfrm>
            <a:off x="1097280" y="1962218"/>
            <a:ext cx="2569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Terminal 1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B98B95-396F-DAA0-0824-3B181BE66657}"/>
              </a:ext>
            </a:extLst>
          </p:cNvPr>
          <p:cNvSpPr txBox="1"/>
          <p:nvPr/>
        </p:nvSpPr>
        <p:spPr>
          <a:xfrm>
            <a:off x="1097280" y="3724898"/>
            <a:ext cx="2569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Terminal 2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EE2D419-3D2E-74F9-FB95-C727CCD17D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853" b="-25543"/>
          <a:stretch>
            <a:fillRect/>
          </a:stretch>
        </p:blipFill>
        <p:spPr>
          <a:xfrm>
            <a:off x="1097281" y="4304600"/>
            <a:ext cx="6487430" cy="66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949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2D79D-833F-BA50-E26C-B046B424A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E0573-0E5D-6E4F-81AB-0CC23022E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LIVE DEM</a:t>
            </a:r>
            <a:r>
              <a:rPr lang="en-IN" b="1" dirty="0"/>
              <a:t>O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BA662-B6BF-5920-ED2B-9B47C466A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37361"/>
            <a:ext cx="10058400" cy="4445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200" b="1" dirty="0"/>
              <a:t>Steps to show on screen:</a:t>
            </a:r>
          </a:p>
          <a:p>
            <a:pPr indent="0">
              <a:buNone/>
            </a:pPr>
            <a:r>
              <a:rPr sz="1200" i="1" dirty="0">
                <a:solidFill>
                  <a:srgbClr val="60A0B0"/>
                </a:solidFill>
                <a:latin typeface="Courier"/>
              </a:rPr>
              <a:t># Terminal 1: compile and run</a:t>
            </a:r>
            <a:br>
              <a:rPr sz="1200" dirty="0"/>
            </a:br>
            <a:r>
              <a:rPr sz="1200" dirty="0" err="1">
                <a:solidFill>
                  <a:srgbClr val="06287E"/>
                </a:solidFill>
                <a:latin typeface="Courier"/>
              </a:rPr>
              <a:t>gcc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7D9029"/>
                </a:solidFill>
                <a:latin typeface="Courier"/>
              </a:rPr>
              <a:t>-O0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7D9029"/>
                </a:solidFill>
                <a:latin typeface="Courier"/>
              </a:rPr>
              <a:t>-o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latin typeface="Courier"/>
              </a:rPr>
              <a:t>demand_paging_demo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latin typeface="Courier"/>
              </a:rPr>
              <a:t>demand_paging_demo.c</a:t>
            </a:r>
            <a:br>
              <a:rPr sz="1200" dirty="0"/>
            </a:br>
            <a:r>
              <a:rPr sz="1200" dirty="0">
                <a:latin typeface="Courier"/>
              </a:rPr>
              <a:t>./</a:t>
            </a:r>
            <a:r>
              <a:rPr sz="1200" dirty="0" err="1">
                <a:latin typeface="Courier"/>
              </a:rPr>
              <a:t>demand_paging_demo</a:t>
            </a:r>
            <a:r>
              <a:rPr sz="1200" dirty="0">
                <a:latin typeface="Courier"/>
              </a:rPr>
              <a:t> 512 seq</a:t>
            </a:r>
            <a:br>
              <a:rPr sz="1200" dirty="0"/>
            </a:br>
            <a:br>
              <a:rPr sz="1200" dirty="0"/>
            </a:br>
            <a:r>
              <a:rPr sz="1200" i="1" dirty="0">
                <a:solidFill>
                  <a:srgbClr val="60A0B0"/>
                </a:solidFill>
                <a:latin typeface="Courier"/>
              </a:rPr>
              <a:t># Terminal 2: watch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vmstat</a:t>
            </a:r>
            <a:br>
              <a:rPr sz="1200" dirty="0"/>
            </a:br>
            <a:r>
              <a:rPr sz="1200" dirty="0" err="1">
                <a:solidFill>
                  <a:srgbClr val="06287E"/>
                </a:solidFill>
                <a:latin typeface="Courier"/>
              </a:rPr>
              <a:t>vmstat</a:t>
            </a:r>
            <a:r>
              <a:rPr sz="1200" dirty="0">
                <a:latin typeface="Courier"/>
              </a:rPr>
              <a:t> 1</a:t>
            </a:r>
          </a:p>
          <a:p>
            <a:pPr marL="0" indent="0">
              <a:buNone/>
            </a:pPr>
            <a:r>
              <a:rPr sz="1200" b="1" dirty="0"/>
              <a:t>What to point out:</a:t>
            </a:r>
            <a:r>
              <a:rPr sz="1200" dirty="0"/>
              <a:t> </a:t>
            </a:r>
            <a:endParaRPr lang="en-IN" sz="1200" dirty="0"/>
          </a:p>
          <a:p>
            <a:pPr marL="635508" lvl="1" indent="-342900">
              <a:buFont typeface="+mj-lt"/>
              <a:buAutoNum type="arabicPeriod"/>
            </a:pPr>
            <a:r>
              <a:rPr sz="1200" dirty="0"/>
              <a:t>Phase 1: “See? Zero faults after malloc!”</a:t>
            </a:r>
            <a:endParaRPr lang="en-IN" sz="1200" dirty="0"/>
          </a:p>
          <a:p>
            <a:pPr marL="635508" lvl="1" indent="-342900">
              <a:buFont typeface="+mj-lt"/>
              <a:buAutoNum type="arabicPeriod"/>
            </a:pPr>
            <a:r>
              <a:rPr sz="1200" dirty="0"/>
              <a:t>Phase 2: “131,072 minor faults — exactly 512 MB ÷ 4 KB”</a:t>
            </a:r>
            <a:endParaRPr lang="en-IN" sz="1200" dirty="0"/>
          </a:p>
          <a:p>
            <a:pPr marL="635508" lvl="1" indent="-342900">
              <a:buFont typeface="+mj-lt"/>
              <a:buAutoNum type="arabicPeriod"/>
            </a:pPr>
            <a:r>
              <a:rPr sz="1200" dirty="0"/>
              <a:t>Phase 3: “Zero faults — pages are already mapped”</a:t>
            </a:r>
            <a:endParaRPr lang="en-IN" sz="1200" dirty="0"/>
          </a:p>
          <a:p>
            <a:pPr marL="635508" lvl="1" indent="-342900">
              <a:buFont typeface="+mj-lt"/>
              <a:buAutoNum type="arabicPeriod"/>
            </a:pPr>
            <a:r>
              <a:rPr sz="1200" dirty="0" err="1"/>
              <a:t>vmstat</a:t>
            </a:r>
            <a:r>
              <a:rPr sz="1200" dirty="0"/>
              <a:t>: “Watch </a:t>
            </a:r>
            <a:r>
              <a:rPr sz="1200" dirty="0">
                <a:latin typeface="Courier"/>
              </a:rPr>
              <a:t>free</a:t>
            </a:r>
            <a:r>
              <a:rPr sz="1200" dirty="0"/>
              <a:t> column drop by ~512 MB”</a:t>
            </a:r>
            <a:endParaRPr lang="en-IN" sz="1200" dirty="0"/>
          </a:p>
          <a:p>
            <a:pPr marL="635508" lvl="1" indent="-342900">
              <a:buFont typeface="+mj-lt"/>
              <a:buAutoNum type="arabicPeriod"/>
            </a:pPr>
            <a:r>
              <a:rPr sz="1200" dirty="0" err="1"/>
              <a:t>vmstat</a:t>
            </a:r>
            <a:r>
              <a:rPr sz="1200" dirty="0"/>
              <a:t>: “</a:t>
            </a:r>
            <a:r>
              <a:rPr sz="1200" dirty="0" err="1">
                <a:latin typeface="Courier"/>
              </a:rPr>
              <a:t>sy</a:t>
            </a:r>
            <a:r>
              <a:rPr sz="1200" dirty="0"/>
              <a:t> (system CPU) spikes — kernel is handling faults”</a:t>
            </a:r>
            <a:endParaRPr lang="en-IN" sz="1200" dirty="0"/>
          </a:p>
          <a:p>
            <a:pPr marL="292608" lvl="1" indent="0">
              <a:buNone/>
            </a:pPr>
            <a:r>
              <a:rPr lang="en-IN" sz="1200" dirty="0"/>
              <a:t>Then run the automated comparison and </a:t>
            </a:r>
            <a:r>
              <a:rPr lang="en-IN" sz="1200" dirty="0" err="1"/>
              <a:t>vmstat</a:t>
            </a:r>
            <a:r>
              <a:rPr lang="en-IN" sz="1200" dirty="0"/>
              <a:t> monitor:*bash# Terminal 1: run all 3 patterns and get a side-by-side </a:t>
            </a:r>
            <a:r>
              <a:rPr lang="en-IN" sz="1200" dirty="0" err="1"/>
              <a:t>tablechmod</a:t>
            </a:r>
            <a:r>
              <a:rPr lang="en-IN" sz="1200" dirty="0"/>
              <a:t> +x compare_page_faults.sh./compare_page_faults.sh 512# Terminal 3: automated </a:t>
            </a:r>
            <a:r>
              <a:rPr lang="en-IN" sz="1200" dirty="0" err="1"/>
              <a:t>vmstat</a:t>
            </a:r>
            <a:r>
              <a:rPr lang="en-IN" sz="1200" dirty="0"/>
              <a:t> capture (before/during/after)</a:t>
            </a:r>
            <a:r>
              <a:rPr lang="en-IN" sz="1200" dirty="0" err="1"/>
              <a:t>chmod</a:t>
            </a:r>
            <a:r>
              <a:rPr lang="en-IN" sz="1200" dirty="0"/>
              <a:t> +x vmstat_monitor.sh./vmstat_monitor.sh 512 </a:t>
            </a:r>
            <a:r>
              <a:rPr lang="en-IN" sz="1200" dirty="0" err="1"/>
              <a:t>seqcat</a:t>
            </a:r>
            <a:r>
              <a:rPr lang="en-IN" sz="1200" dirty="0"/>
              <a:t> vmstat_log_*.txt   # show the captured summary</a:t>
            </a:r>
          </a:p>
          <a:p>
            <a:pPr marL="635508" lvl="1" indent="-342900">
              <a:buFont typeface="+mj-lt"/>
              <a:buAutoNum type="arabicPeriod" startAt="6"/>
            </a:pPr>
            <a:r>
              <a:rPr lang="en-IN" sz="1200" dirty="0"/>
              <a:t>compare_page_faults.sh: "Same faults across all 3 patterns — but look at the time difference“</a:t>
            </a:r>
          </a:p>
          <a:p>
            <a:pPr marL="635508" lvl="1" indent="-342900">
              <a:buFont typeface="+mj-lt"/>
              <a:buAutoNum type="arabicPeriod" startAt="6"/>
            </a:pPr>
            <a:r>
              <a:rPr lang="en-IN" sz="1200" dirty="0"/>
              <a:t>compare_page_faults.sh also saves per-pattern </a:t>
            </a:r>
            <a:r>
              <a:rPr lang="en-IN" sz="1200" dirty="0" err="1"/>
              <a:t>vmstat</a:t>
            </a:r>
            <a:r>
              <a:rPr lang="en-IN" sz="1200" dirty="0"/>
              <a:t> logs (vmstat_run_seq.log, vmstat_run_random.log, vmstat_run_stride.log) — you can diff them to see how system behaviour changes per pattern8. vmstat_monitor.sh: "This script automates the before/during/after </a:t>
            </a:r>
            <a:r>
              <a:rPr lang="en-IN" sz="1200" dirty="0" err="1"/>
              <a:t>vmstat</a:t>
            </a:r>
            <a:r>
              <a:rPr lang="en-IN" sz="1200" dirty="0"/>
              <a:t> capture we just did manually"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FCABCE-89D2-46DE-A00D-31DD25302F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6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167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378FD-0DCD-44B7-BDA3-00AD26B03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320" y="-121637"/>
            <a:ext cx="10058400" cy="1450757"/>
          </a:xfrm>
        </p:spPr>
        <p:txBody>
          <a:bodyPr/>
          <a:lstStyle/>
          <a:p>
            <a:r>
              <a:rPr lang="en-US" b="1" dirty="0">
                <a:uFill>
                  <a:solidFill>
                    <a:schemeClr val="tx1">
                      <a:lumMod val="65000"/>
                      <a:lumOff val="35000"/>
                    </a:schemeClr>
                  </a:solidFill>
                </a:uFill>
              </a:rPr>
              <a:t> </a:t>
            </a:r>
            <a:r>
              <a:rPr lang="en-US" b="1" dirty="0" err="1">
                <a:uFill>
                  <a:solidFill>
                    <a:schemeClr val="tx1">
                      <a:lumMod val="65000"/>
                      <a:lumOff val="35000"/>
                    </a:schemeClr>
                  </a:solidFill>
                </a:uFill>
              </a:rPr>
              <a:t>vmstat</a:t>
            </a:r>
            <a:r>
              <a:rPr lang="en-US" b="1" dirty="0">
                <a:uFill>
                  <a:solidFill>
                    <a:schemeClr val="tx1">
                      <a:lumMod val="65000"/>
                      <a:lumOff val="35000"/>
                    </a:schemeClr>
                  </a:solidFill>
                </a:uFill>
              </a:rPr>
              <a:t> Output During Sequential Demo</a:t>
            </a:r>
            <a:endParaRPr lang="en-IN" dirty="0">
              <a:uFill>
                <a:solidFill>
                  <a:schemeClr val="tx1">
                    <a:lumMod val="65000"/>
                    <a:lumOff val="35000"/>
                  </a:schemeClr>
                </a:solidFill>
              </a:uFill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42461E0-4B03-ADB9-9C66-B1DC979A8C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6320" y="1698338"/>
            <a:ext cx="7611537" cy="11717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A75D34C-1F2F-035A-2727-DD73DF1C9DDA}"/>
              </a:ext>
            </a:extLst>
          </p:cNvPr>
          <p:cNvSpPr txBox="1"/>
          <p:nvPr/>
        </p:nvSpPr>
        <p:spPr>
          <a:xfrm>
            <a:off x="971550" y="139367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IN" b="1" i="0" dirty="0">
                <a:effectLst/>
              </a:rPr>
              <a:t>Baseline (before demo starts):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F207B1-DA1F-CA8B-0573-972FCA2D7B93}"/>
              </a:ext>
            </a:extLst>
          </p:cNvPr>
          <p:cNvSpPr txBox="1"/>
          <p:nvPr/>
        </p:nvSpPr>
        <p:spPr>
          <a:xfrm>
            <a:off x="971550" y="2999185"/>
            <a:ext cx="37558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b="1" i="0" dirty="0">
                <a:effectLst/>
              </a:rPr>
              <a:t>During Phase 2 (sequential, 512 MB):</a:t>
            </a:r>
            <a:br>
              <a:rPr lang="en-US" dirty="0"/>
            </a:b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7AAA17A-0D11-AB00-AA86-B077BFA3B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" y="3322350"/>
            <a:ext cx="7697274" cy="1314633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2E22C25-61AF-D198-E067-E9F4237E0119}"/>
              </a:ext>
            </a:extLst>
          </p:cNvPr>
          <p:cNvCxnSpPr/>
          <p:nvPr/>
        </p:nvCxnSpPr>
        <p:spPr>
          <a:xfrm>
            <a:off x="1216152" y="1225296"/>
            <a:ext cx="932688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9E41BD63-09DE-8592-335E-EE1887B0A1B9}"/>
              </a:ext>
            </a:extLst>
          </p:cNvPr>
          <p:cNvSpPr/>
          <p:nvPr/>
        </p:nvSpPr>
        <p:spPr>
          <a:xfrm>
            <a:off x="8647857" y="1578340"/>
            <a:ext cx="2727279" cy="5887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BD528F-D8C0-C7DC-4300-F3F1BEDB2E02}"/>
              </a:ext>
            </a:extLst>
          </p:cNvPr>
          <p:cNvSpPr txBox="1"/>
          <p:nvPr/>
        </p:nvSpPr>
        <p:spPr>
          <a:xfrm>
            <a:off x="971550" y="479033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b="1" i="0" dirty="0">
                <a:effectLst/>
              </a:rPr>
              <a:t>After demo finishes (memory freed):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E23BFC2-B3BF-07AD-7269-150E523195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320" y="5194493"/>
            <a:ext cx="7592485" cy="8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4144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C039C-01F9-48B9-D061-AE05A4B9F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67C93-A238-B3DA-4364-DBDE892E6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IN" b="1" dirty="0" err="1"/>
              <a:t>vmstat</a:t>
            </a:r>
            <a:r>
              <a:rPr lang="en-IN" b="1" dirty="0"/>
              <a:t> Explained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21D20-5E40-5E29-22FE-0E842F3EB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864" y="1845734"/>
            <a:ext cx="10213847" cy="472566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sz="1800" b="1" dirty="0"/>
              <a:t>Automated monitoring</a:t>
            </a:r>
            <a:r>
              <a:rPr lang="en-US" sz="1800" dirty="0"/>
              <a:t>: vmstat_monitor.sh captures </a:t>
            </a:r>
            <a:r>
              <a:rPr lang="en-US" sz="1800" dirty="0" err="1"/>
              <a:t>vmstat</a:t>
            </a:r>
            <a:r>
              <a:rPr lang="en-US" sz="1800" dirty="0"/>
              <a:t> snapshots before, during, and after the demo run and writes a summary log — useful for including in reports.</a:t>
            </a:r>
            <a:endParaRPr lang="en-US" sz="1800" b="1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800" b="1" dirty="0"/>
              <a:t>To trigger swap activity:</a:t>
            </a:r>
            <a:r>
              <a:rPr lang="en-US" sz="1800" dirty="0"/>
              <a:t> allocate more than available RAM</a:t>
            </a:r>
          </a:p>
          <a:p>
            <a:pPr>
              <a:spcBef>
                <a:spcPts val="600"/>
              </a:spcBef>
            </a:pPr>
            <a:r>
              <a:rPr lang="en-US" sz="1800" dirty="0"/>
              <a:t>./</a:t>
            </a:r>
            <a:r>
              <a:rPr lang="en-US" sz="1800" dirty="0" err="1"/>
              <a:t>demand_paging_demo</a:t>
            </a:r>
            <a:r>
              <a:rPr lang="en-US" sz="1800" dirty="0"/>
              <a:t> 7000 seq   </a:t>
            </a:r>
            <a:r>
              <a:rPr lang="en-US" sz="1800" i="1" dirty="0"/>
              <a:t># on 8 GB machine</a:t>
            </a:r>
            <a:endParaRPr lang="en-US" sz="1800" dirty="0"/>
          </a:p>
          <a:p>
            <a:pPr>
              <a:spcBef>
                <a:spcPts val="600"/>
              </a:spcBef>
            </a:pPr>
            <a:r>
              <a:rPr lang="en-US" sz="1800" i="1" dirty="0"/>
              <a:t># Now </a:t>
            </a:r>
            <a:r>
              <a:rPr lang="en-US" sz="1800" i="1" dirty="0" err="1"/>
              <a:t>vmstat</a:t>
            </a:r>
            <a:r>
              <a:rPr lang="en-US" sz="1800" i="1" dirty="0"/>
              <a:t> will show </a:t>
            </a:r>
            <a:r>
              <a:rPr lang="en-US" sz="1800" i="1" dirty="0" err="1"/>
              <a:t>si</a:t>
            </a:r>
            <a:r>
              <a:rPr lang="en-US" sz="1800" i="1" dirty="0"/>
              <a:t>/so &gt; 0</a:t>
            </a:r>
            <a:endParaRPr lang="en-US" sz="1800" dirty="0"/>
          </a:p>
          <a:p>
            <a:pPr marL="0" indent="0">
              <a:buNone/>
            </a:pPr>
            <a:endParaRPr dirty="0"/>
          </a:p>
        </p:txBody>
      </p:sp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4092230"/>
              </p:ext>
            </p:extLst>
          </p:nvPr>
        </p:nvGraphicFramePr>
        <p:xfrm>
          <a:off x="1197864" y="2709215"/>
          <a:ext cx="7836407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9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59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0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0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What to watch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During demo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>
                          <a:latin typeface="Courier"/>
                        </a:rPr>
                        <a:t>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Free RAM (KB)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~6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Drops by ~512 MB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>
                          <a:latin typeface="Courier"/>
                        </a:rPr>
                        <a:t>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Swap in (KB/s)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0 (if RAM sufficient)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>
                          <a:latin typeface="Courier"/>
                        </a:rPr>
                        <a:t>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Swap out (KB/s)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0 (if RAM sufficient)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 err="1">
                          <a:latin typeface="Courier"/>
                        </a:rPr>
                        <a:t>sy</a:t>
                      </a:r>
                      <a:endParaRPr sz="1600" dirty="0"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System CPU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&lt;5%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20-30% (fault handling)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ED0069A-542A-A47E-C4A6-485A5E7F4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4" y="1914945"/>
            <a:ext cx="6236208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413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Comparison Results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0637958"/>
              </p:ext>
            </p:extLst>
          </p:nvPr>
        </p:nvGraphicFramePr>
        <p:xfrm>
          <a:off x="1097280" y="1808862"/>
          <a:ext cx="8193660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8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8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8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9023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Pattern</a:t>
                      </a:r>
                    </a:p>
                  </a:txBody>
                  <a:tcPr marL="83819" marR="8381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Minor Faults</a:t>
                      </a:r>
                    </a:p>
                  </a:txBody>
                  <a:tcPr marL="83819" marR="8381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Major Faults</a:t>
                      </a:r>
                    </a:p>
                  </a:txBody>
                  <a:tcPr marL="83819" marR="8381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Time (s)</a:t>
                      </a:r>
                    </a:p>
                  </a:txBody>
                  <a:tcPr marL="83819" marR="838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023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Sequential</a:t>
                      </a:r>
                    </a:p>
                  </a:txBody>
                  <a:tcPr marL="83819" marR="8381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~131,072</a:t>
                      </a:r>
                    </a:p>
                  </a:txBody>
                  <a:tcPr marL="83819" marR="8381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0</a:t>
                      </a:r>
                    </a:p>
                  </a:txBody>
                  <a:tcPr marL="83819" marR="8381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~0.35</a:t>
                      </a:r>
                    </a:p>
                  </a:txBody>
                  <a:tcPr marL="83819" marR="838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023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Random</a:t>
                      </a:r>
                    </a:p>
                  </a:txBody>
                  <a:tcPr marL="83819" marR="8381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~131,072</a:t>
                      </a:r>
                    </a:p>
                  </a:txBody>
                  <a:tcPr marL="83819" marR="8381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0</a:t>
                      </a:r>
                    </a:p>
                  </a:txBody>
                  <a:tcPr marL="83819" marR="8381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~0.85</a:t>
                      </a:r>
                    </a:p>
                  </a:txBody>
                  <a:tcPr marL="83819" marR="838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023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Stride-64</a:t>
                      </a:r>
                    </a:p>
                  </a:txBody>
                  <a:tcPr marL="83819" marR="8381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~131,072</a:t>
                      </a:r>
                    </a:p>
                  </a:txBody>
                  <a:tcPr marL="83819" marR="8381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0</a:t>
                      </a:r>
                    </a:p>
                  </a:txBody>
                  <a:tcPr marL="83819" marR="8381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~0.55</a:t>
                      </a:r>
                    </a:p>
                  </a:txBody>
                  <a:tcPr marL="83819" marR="838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70467EC-ACD7-9613-C181-CD02E3F3A060}"/>
              </a:ext>
            </a:extLst>
          </p:cNvPr>
          <p:cNvSpPr txBox="1"/>
          <p:nvPr/>
        </p:nvSpPr>
        <p:spPr>
          <a:xfrm>
            <a:off x="1011936" y="3149982"/>
            <a:ext cx="10207752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chemeClr val="accent1"/>
              </a:buClr>
            </a:pPr>
            <a:r>
              <a:rPr lang="en-US" sz="1600" dirty="0"/>
              <a:t>(This table is the output of compare_page_faults.sh — saved to page_fault_comparison.txt)</a:t>
            </a:r>
            <a:endParaRPr lang="en-IN" sz="1600" dirty="0"/>
          </a:p>
          <a:p>
            <a:pPr>
              <a:spcAft>
                <a:spcPts val="1200"/>
              </a:spcAft>
              <a:buClr>
                <a:schemeClr val="accent1"/>
              </a:buClr>
            </a:pPr>
            <a:r>
              <a:rPr lang="en-IN" sz="1700" b="1" dirty="0"/>
              <a:t>Why same faults but different speed?</a:t>
            </a:r>
            <a:endParaRPr lang="en-IN" sz="1700" dirty="0"/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1700" b="1" dirty="0"/>
              <a:t>Same faults:</a:t>
            </a:r>
            <a:r>
              <a:rPr lang="en-IN" sz="1700" dirty="0"/>
              <a:t> All patterns touch every page once → same number of first-access faults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1700" b="1" dirty="0"/>
              <a:t>Different speed:</a:t>
            </a:r>
            <a:r>
              <a:rPr lang="en-IN" sz="1700" dirty="0"/>
              <a:t> TLB and cache locality!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IN" sz="1700" dirty="0"/>
              <a:t>Sequential: TLB entries reused within contiguous region; CPU prefetch works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IN" sz="1700" dirty="0"/>
              <a:t>Random: TLB thrashes; every access likely misses L1/L2/L3 cache</a:t>
            </a:r>
          </a:p>
          <a:p>
            <a:pPr marL="742950" lvl="1" indent="-285750"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IN" sz="1700" dirty="0"/>
              <a:t>Stride-64: TLB partially effective; some prefetch benefit</a:t>
            </a:r>
          </a:p>
          <a:p>
            <a:pPr>
              <a:buClr>
                <a:schemeClr val="accent1"/>
              </a:buClr>
            </a:pPr>
            <a:r>
              <a:rPr lang="en-IN" b="1" dirty="0"/>
              <a:t>Bonus</a:t>
            </a:r>
            <a:r>
              <a:rPr lang="en-IN" dirty="0"/>
              <a:t>: compare_page_faults.sh also captured per-pattern </a:t>
            </a:r>
            <a:r>
              <a:rPr lang="en-IN" dirty="0" err="1"/>
              <a:t>vmstat</a:t>
            </a:r>
            <a:r>
              <a:rPr lang="en-IN" dirty="0"/>
              <a:t> logs (vmstat_run_seq.log, vmstat_run_random.log, vmstat_run_stride.log) — you can compare </a:t>
            </a:r>
            <a:r>
              <a:rPr lang="en-IN" dirty="0" err="1"/>
              <a:t>sy</a:t>
            </a:r>
            <a:r>
              <a:rPr lang="en-IN" dirty="0"/>
              <a:t> and free deltas across patterns to see the system-level impact	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Page Replacement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sz="1800" dirty="0"/>
              <a:t>When RAM is full, the kernel must </a:t>
            </a:r>
            <a:r>
              <a:rPr sz="1800" b="1" dirty="0"/>
              <a:t>evict</a:t>
            </a:r>
            <a:r>
              <a:rPr sz="1800" dirty="0"/>
              <a:t> pages to make room.</a:t>
            </a:r>
          </a:p>
          <a:p>
            <a:pPr marL="0" indent="0">
              <a:buNone/>
            </a:pPr>
            <a:r>
              <a:rPr sz="1800" b="1" dirty="0"/>
              <a:t>Linux uses a two-list LRU approximation:</a:t>
            </a:r>
            <a:endParaRPr lang="en-IN" sz="1800" b="1" dirty="0"/>
          </a:p>
          <a:p>
            <a:pPr marL="0" indent="0">
              <a:buNone/>
            </a:pPr>
            <a:endParaRPr lang="en-IN" sz="1800" b="1" dirty="0"/>
          </a:p>
          <a:p>
            <a:pPr marL="0" indent="0">
              <a:buNone/>
            </a:pPr>
            <a:endParaRPr lang="en-IN" sz="1800" b="1" dirty="0"/>
          </a:p>
          <a:p>
            <a:pPr marL="0" indent="0">
              <a:buNone/>
            </a:pPr>
            <a:endParaRPr lang="en-IN" sz="1800" b="1" dirty="0"/>
          </a:p>
          <a:p>
            <a:pPr marL="0" indent="0">
              <a:buNone/>
            </a:pPr>
            <a:endParaRPr sz="1800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Pages start on the inactive list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If accessed again → promoted to active list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 err="1"/>
              <a:t>kswapd</a:t>
            </a:r>
            <a:r>
              <a:rPr dirty="0"/>
              <a:t> daemon periodically moves active → inactive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Active list is kept at ~2/3 of total page cache (modified 2Q algorithm)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Eviction candidates come from the inactive list tail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547ED3-D1D3-DA69-DB2A-D183092355A0}"/>
              </a:ext>
            </a:extLst>
          </p:cNvPr>
          <p:cNvSpPr/>
          <p:nvPr/>
        </p:nvSpPr>
        <p:spPr>
          <a:xfrm>
            <a:off x="2346960" y="2790274"/>
            <a:ext cx="2535936" cy="7393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Active List</a:t>
            </a:r>
          </a:p>
          <a:p>
            <a:pPr algn="ctr"/>
            <a:r>
              <a:rPr lang="en-US" dirty="0"/>
              <a:t>(recently used)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AFF96D-5ABA-333F-B951-C04B0A3AF808}"/>
              </a:ext>
            </a:extLst>
          </p:cNvPr>
          <p:cNvSpPr/>
          <p:nvPr/>
        </p:nvSpPr>
        <p:spPr>
          <a:xfrm>
            <a:off x="5727192" y="2790275"/>
            <a:ext cx="2535936" cy="7393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Inactive List </a:t>
            </a:r>
          </a:p>
          <a:p>
            <a:pPr algn="ctr"/>
            <a:r>
              <a:rPr lang="en-US" dirty="0"/>
              <a:t>(candidates for eviction)</a:t>
            </a:r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57434DA-A510-470F-5D54-9F6BE740B38A}"/>
              </a:ext>
            </a:extLst>
          </p:cNvPr>
          <p:cNvCxnSpPr>
            <a:cxnSpLocks/>
          </p:cNvCxnSpPr>
          <p:nvPr/>
        </p:nvCxnSpPr>
        <p:spPr>
          <a:xfrm>
            <a:off x="4882897" y="3022768"/>
            <a:ext cx="84429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C99CAEA-3551-1471-370F-8AFAAD2E1B47}"/>
              </a:ext>
            </a:extLst>
          </p:cNvPr>
          <p:cNvCxnSpPr>
            <a:cxnSpLocks/>
          </p:cNvCxnSpPr>
          <p:nvPr/>
        </p:nvCxnSpPr>
        <p:spPr>
          <a:xfrm flipH="1">
            <a:off x="4882896" y="3276176"/>
            <a:ext cx="84429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F744AB9-C30B-E86E-6730-FE100E6537EA}"/>
              </a:ext>
            </a:extLst>
          </p:cNvPr>
          <p:cNvCxnSpPr>
            <a:cxnSpLocks/>
          </p:cNvCxnSpPr>
          <p:nvPr/>
        </p:nvCxnSpPr>
        <p:spPr>
          <a:xfrm>
            <a:off x="7997953" y="3159928"/>
            <a:ext cx="84429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A85BBE5B-CAF4-12F0-3A71-82DD726421BE}"/>
              </a:ext>
            </a:extLst>
          </p:cNvPr>
          <p:cNvSpPr/>
          <p:nvPr/>
        </p:nvSpPr>
        <p:spPr>
          <a:xfrm>
            <a:off x="8842248" y="2790274"/>
            <a:ext cx="1469137" cy="7393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Evict /</a:t>
            </a:r>
          </a:p>
          <a:p>
            <a:pPr algn="ctr"/>
            <a:r>
              <a:rPr lang="en-US" dirty="0"/>
              <a:t>Swap out</a:t>
            </a:r>
            <a:endParaRPr lang="en-I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Thrashing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8241" y="1946318"/>
            <a:ext cx="9000743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b="1" dirty="0"/>
              <a:t>Thrashing</a:t>
            </a:r>
            <a:r>
              <a:rPr dirty="0"/>
              <a:t> = working set &gt; physical memory → constant page-in/page-out</a:t>
            </a:r>
          </a:p>
          <a:p>
            <a:pPr marL="0" indent="0">
              <a:buNone/>
            </a:pPr>
            <a:r>
              <a:rPr b="1" dirty="0"/>
              <a:t>Symptoms:</a:t>
            </a:r>
            <a:endParaRPr lang="en-US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CPU idle time is high (waiting for I/O)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dirty="0" err="1">
                <a:latin typeface="Courier"/>
              </a:rPr>
              <a:t>vmstat</a:t>
            </a:r>
            <a:r>
              <a:rPr dirty="0"/>
              <a:t> shows </a:t>
            </a:r>
            <a:r>
              <a:rPr dirty="0" err="1">
                <a:latin typeface="Courier"/>
              </a:rPr>
              <a:t>si</a:t>
            </a:r>
            <a:r>
              <a:rPr dirty="0">
                <a:latin typeface="Courier"/>
              </a:rPr>
              <a:t>/so</a:t>
            </a:r>
            <a:r>
              <a:rPr dirty="0"/>
              <a:t> constantly &gt; 0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System becomes unresponsive</a:t>
            </a:r>
          </a:p>
          <a:p>
            <a:pPr marL="0" indent="0">
              <a:buNone/>
            </a:pPr>
            <a:r>
              <a:rPr b="1" dirty="0"/>
              <a:t>Solutions:</a:t>
            </a:r>
            <a:endParaRPr lang="en-US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Add more RAM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Reduce the number of concurrent processes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Use </a:t>
            </a:r>
            <a:r>
              <a:rPr dirty="0" err="1"/>
              <a:t>cgroups</a:t>
            </a:r>
            <a:r>
              <a:rPr dirty="0"/>
              <a:t> to limit per-process memory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Working set size estimation (PFF — Page Fault Frequency)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SDG Connection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3091313"/>
              </p:ext>
            </p:extLst>
          </p:nvPr>
        </p:nvGraphicFramePr>
        <p:xfrm>
          <a:off x="1097280" y="2376615"/>
          <a:ext cx="7543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2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SDG</a:t>
                      </a:r>
                    </a:p>
                  </a:txBody>
                  <a:tcPr marL="83819" marR="8381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Connection</a:t>
                      </a:r>
                    </a:p>
                  </a:txBody>
                  <a:tcPr marL="83819" marR="838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 dirty="0"/>
                        <a:t>SDG 9</a:t>
                      </a:r>
                      <a:r>
                        <a:rPr dirty="0"/>
                        <a:t> (Industry &amp; Infrastructure)</a:t>
                      </a:r>
                    </a:p>
                  </a:txBody>
                  <a:tcPr marL="83819" marR="8381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Virtual memory enables cloud infrastructure</a:t>
                      </a:r>
                    </a:p>
                  </a:txBody>
                  <a:tcPr marL="83819" marR="838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SDG 12</a:t>
                      </a:r>
                      <a:r>
                        <a:t> (Responsible Consumption)</a:t>
                      </a:r>
                    </a:p>
                  </a:txBody>
                  <a:tcPr marL="83819" marR="8381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Demand paging = allocate only what you use</a:t>
                      </a:r>
                    </a:p>
                  </a:txBody>
                  <a:tcPr marL="83819" marR="838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SDG 13</a:t>
                      </a:r>
                      <a:r>
                        <a:t> (Climate Action)</a:t>
                      </a:r>
                    </a:p>
                  </a:txBody>
                  <a:tcPr marL="83819" marR="8381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Efficient memory → fewer servers → less energy</a:t>
                      </a:r>
                    </a:p>
                  </a:txBody>
                  <a:tcPr marL="83819" marR="8381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SDG 4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(Quality Education)</a:t>
                      </a:r>
                      <a:endParaRPr dirty="0"/>
                    </a:p>
                  </a:txBody>
                  <a:tcPr marL="83819" marR="8381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Peer-taught video class; hands-on experimentation</a:t>
                      </a:r>
                      <a:endParaRPr dirty="0"/>
                    </a:p>
                  </a:txBody>
                  <a:tcPr marL="83819" marR="83819"/>
                </a:tc>
                <a:extLst>
                  <a:ext uri="{0D108BD9-81ED-4DB2-BD59-A6C34878D82A}">
                    <a16:rowId xmlns:a16="http://schemas.microsoft.com/office/drawing/2014/main" val="50059078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Key Takeaways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045548"/>
            <a:ext cx="7543801" cy="40233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b="1" dirty="0"/>
              <a:t>Virtual memory</a:t>
            </a:r>
            <a:r>
              <a:rPr dirty="0"/>
              <a:t> gives every process its own isolated address space</a:t>
            </a:r>
          </a:p>
          <a:p>
            <a:pPr marL="457200" indent="-457200">
              <a:buAutoNum type="arabicPeriod"/>
            </a:pPr>
            <a:r>
              <a:rPr b="1" dirty="0"/>
              <a:t>malloc does NOT allocate physical RAM</a:t>
            </a:r>
            <a:r>
              <a:rPr dirty="0"/>
              <a:t> — it’s demand-paged</a:t>
            </a:r>
          </a:p>
          <a:p>
            <a:pPr marL="457200" indent="-457200">
              <a:buAutoNum type="arabicPeriod"/>
            </a:pPr>
            <a:r>
              <a:rPr b="1" dirty="0"/>
              <a:t>Minor faults</a:t>
            </a:r>
            <a:r>
              <a:rPr dirty="0"/>
              <a:t> (first access) are fast; </a:t>
            </a:r>
            <a:r>
              <a:rPr b="1" dirty="0"/>
              <a:t>major faults</a:t>
            </a:r>
            <a:r>
              <a:rPr dirty="0"/>
              <a:t> (swap) are slow</a:t>
            </a:r>
          </a:p>
          <a:p>
            <a:pPr marL="457200" indent="-457200">
              <a:buAutoNum type="arabicPeriod"/>
            </a:pPr>
            <a:r>
              <a:rPr b="1" dirty="0"/>
              <a:t>Access pattern</a:t>
            </a:r>
            <a:r>
              <a:rPr dirty="0"/>
              <a:t> doesn’t change fault count but greatly affects TLB/cache performance</a:t>
            </a:r>
          </a:p>
          <a:p>
            <a:pPr marL="457200" indent="-457200">
              <a:buAutoNum type="arabicPeriod"/>
            </a:pPr>
            <a:r>
              <a:rPr b="1" dirty="0" err="1"/>
              <a:t>vmstat</a:t>
            </a:r>
            <a:r>
              <a:rPr dirty="0"/>
              <a:t> is the go-to tool for monitoring memory and swap activity</a:t>
            </a:r>
          </a:p>
          <a:p>
            <a:pPr marL="457200" indent="-457200">
              <a:buAutoNum type="arabicPeriod"/>
            </a:pPr>
            <a:r>
              <a:rPr dirty="0"/>
              <a:t>Understanding these concepts is essential for writing performant systems software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Discussion &amp; Further Exploration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129198"/>
            <a:ext cx="10058400" cy="4023360"/>
          </a:xfrm>
        </p:spPr>
        <p:txBody>
          <a:bodyPr/>
          <a:lstStyle/>
          <a:p>
            <a:pPr marL="0" indent="0">
              <a:buNone/>
            </a:pPr>
            <a:r>
              <a:rPr b="1" dirty="0"/>
              <a:t>Questions?</a:t>
            </a:r>
            <a:endParaRPr lang="en-US" b="1" dirty="0"/>
          </a:p>
          <a:p>
            <a:pPr marL="0" indent="0">
              <a:buNone/>
            </a:pPr>
            <a:endParaRPr b="1" dirty="0"/>
          </a:p>
          <a:p>
            <a:pPr marL="0" indent="0">
              <a:buNone/>
            </a:pPr>
            <a:r>
              <a:rPr b="1" dirty="0"/>
              <a:t>Further exploration:</a:t>
            </a:r>
            <a:endParaRPr lang="en-US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latin typeface="Courier"/>
              </a:rPr>
              <a:t>perf stat -e page-</a:t>
            </a:r>
            <a:r>
              <a:rPr dirty="0" err="1">
                <a:latin typeface="Courier"/>
              </a:rPr>
              <a:t>faults,dTLB</a:t>
            </a:r>
            <a:r>
              <a:rPr dirty="0">
                <a:latin typeface="Courier"/>
              </a:rPr>
              <a:t>-load-misses ./</a:t>
            </a:r>
            <a:r>
              <a:rPr dirty="0" err="1">
                <a:latin typeface="Courier"/>
              </a:rPr>
              <a:t>demand_paging_demo</a:t>
            </a:r>
            <a:r>
              <a:rPr dirty="0">
                <a:latin typeface="Courier"/>
              </a:rPr>
              <a:t> 512 seq</a:t>
            </a:r>
            <a:endParaRPr lang="en-US" dirty="0">
              <a:latin typeface="Courier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Read Chapters 9–10 of Silberschatz (10th ed.)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OSTEP Chapters 18–22: </a:t>
            </a:r>
            <a:r>
              <a:rPr dirty="0">
                <a:solidFill>
                  <a:schemeClr val="accent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https://pages.cs.wisc.edu/~remzi/OSTEP/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949</TotalTime>
  <Words>2045</Words>
  <Application>Microsoft Office PowerPoint</Application>
  <PresentationFormat>Widescreen</PresentationFormat>
  <Paragraphs>347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Courier</vt:lpstr>
      <vt:lpstr>Wingdings</vt:lpstr>
      <vt:lpstr>Retrospect</vt:lpstr>
      <vt:lpstr>Memory Management in Linux</vt:lpstr>
      <vt:lpstr>Agenda</vt:lpstr>
      <vt:lpstr>Why Memory Management? </vt:lpstr>
      <vt:lpstr>Virtual Address Space Layout </vt:lpstr>
      <vt:lpstr>Page Tables &amp; Translation</vt:lpstr>
      <vt:lpstr>What is a Page Fault? </vt:lpstr>
      <vt:lpstr>Demand Paging Flow</vt:lpstr>
      <vt:lpstr>Our Demo Program Design</vt:lpstr>
      <vt:lpstr>Our Demo Program Design</vt:lpstr>
      <vt:lpstr>Our Demo Program Design</vt:lpstr>
      <vt:lpstr>Our Demo Program Design</vt:lpstr>
      <vt:lpstr>Our Demo Program Design</vt:lpstr>
      <vt:lpstr>Our Demo Program Design</vt:lpstr>
      <vt:lpstr>Our Demo Program Design</vt:lpstr>
      <vt:lpstr>LIVE DEMO</vt:lpstr>
      <vt:lpstr>LIVE DEMO</vt:lpstr>
      <vt:lpstr> vmstat Output During Sequential Demo</vt:lpstr>
      <vt:lpstr>vmstat Explained</vt:lpstr>
      <vt:lpstr>Comparison Results</vt:lpstr>
      <vt:lpstr>Page Replacement</vt:lpstr>
      <vt:lpstr>Thrashing</vt:lpstr>
      <vt:lpstr>SDG Connection</vt:lpstr>
      <vt:lpstr>Key Takeaways </vt:lpstr>
      <vt:lpstr>Discussion &amp; Further Exploration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Miyan Jawhar P.M.</dc:creator>
  <cp:keywords/>
  <cp:lastModifiedBy>Miyan Jawhar</cp:lastModifiedBy>
  <cp:revision>9</cp:revision>
  <dcterms:created xsi:type="dcterms:W3CDTF">2026-02-26T12:07:31Z</dcterms:created>
  <dcterms:modified xsi:type="dcterms:W3CDTF">2026-03-07T09:57:20Z</dcterms:modified>
</cp:coreProperties>
</file>